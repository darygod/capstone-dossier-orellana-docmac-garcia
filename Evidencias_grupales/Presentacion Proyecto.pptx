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5"/>
  </p:notesMasterIdLst>
  <p:sldIdLst>
    <p:sldId id="256" r:id="rId2"/>
    <p:sldId id="268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831" autoAdjust="0"/>
    <p:restoredTop sz="94610"/>
  </p:normalViewPr>
  <p:slideViewPr>
    <p:cSldViewPr snapToGrid="0" snapToObjects="1">
      <p:cViewPr varScale="1">
        <p:scale>
          <a:sx n="80" d="100"/>
          <a:sy n="80" d="100"/>
        </p:scale>
        <p:origin x="744" y="5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86398378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Presentación de la Fase 1. Proyecto de continuidad para la empresa Alloxentric.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El dato de 20 minutos viene del PRD del producto. Declararlo como meta por validar, no como hallazgo propio.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Insistir: el porcentaje es juicio técnico. Lo que sí está verificado son los hallazgos de código.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Cada brecha se comprobó en el código. El POLL_MS = 3000 es literal.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El Sprint 0 dura cuatro semanas y coincide con la Fase 1. Los siete siguientes son de dos semanas.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1371600"/>
            <a:ext cx="4937760" cy="4937760"/>
          </a:xfrm>
          <a:prstGeom prst="ellipse">
            <a:avLst/>
          </a:prstGeom>
          <a:solidFill>
            <a:srgbClr val="141B45"/>
          </a:solidFill>
          <a:ln w="12700">
            <a:solidFill>
              <a:srgbClr val="141B45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3" name="Shape 1"/>
          <p:cNvSpPr/>
          <p:nvPr/>
        </p:nvSpPr>
        <p:spPr>
          <a:xfrm>
            <a:off x="10241280" y="4206240"/>
            <a:ext cx="3108960" cy="3108960"/>
          </a:xfrm>
          <a:prstGeom prst="ellipse">
            <a:avLst/>
          </a:prstGeom>
          <a:solidFill>
            <a:srgbClr val="141B45"/>
          </a:solidFill>
          <a:ln w="12700">
            <a:solidFill>
              <a:srgbClr val="141B45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4" name="Text 2"/>
          <p:cNvSpPr txBox="1"/>
          <p:nvPr/>
        </p:nvSpPr>
        <p:spPr>
          <a:xfrm>
            <a:off x="640080" y="13716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kern="0" spc="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PORTAFOLIO DE TÍTULO  ·  FASE 1  ·  DEFINICIÓN DEL PROYECTO APT</a:t>
            </a:r>
            <a:endParaRPr lang="en-US" sz="115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783080"/>
            <a:ext cx="104241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Continuidad Project Dossier</a:t>
            </a:r>
            <a:endParaRPr lang="en-US" sz="46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697480"/>
            <a:ext cx="8778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Cierre de las brechas que impiden la operación del sistema con clientes reales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640080" y="3429000"/>
            <a:ext cx="1280160" cy="32004"/>
          </a:xfrm>
          <a:prstGeom prst="rect">
            <a:avLst/>
          </a:prstGeom>
          <a:solidFill>
            <a:srgbClr val="B7791F"/>
          </a:solidFill>
          <a:ln w="12700">
            <a:solidFill>
              <a:srgbClr val="B7791F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8" name="Text 6"/>
          <p:cNvSpPr txBox="1"/>
          <p:nvPr/>
        </p:nvSpPr>
        <p:spPr>
          <a:xfrm>
            <a:off x="640080" y="3749040"/>
            <a:ext cx="10058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Felipe Orellana Álvarez    ·    Darío García Avendaño    ·    Felipe Docmac Bravo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640080" y="4800600"/>
            <a:ext cx="2468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kern="0" spc="120" dirty="0">
                <a:solidFill>
                  <a:srgbClr val="B779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CLIENTE</a:t>
            </a:r>
            <a:endParaRPr lang="en-US" sz="950" dirty="0"/>
          </a:p>
        </p:txBody>
      </p:sp>
      <p:sp>
        <p:nvSpPr>
          <p:cNvPr id="10" name="Text 8"/>
          <p:cNvSpPr txBox="1"/>
          <p:nvPr/>
        </p:nvSpPr>
        <p:spPr>
          <a:xfrm>
            <a:off x="640080" y="5029200"/>
            <a:ext cx="246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Alloxentric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3246120" y="4800600"/>
            <a:ext cx="2468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kern="0" spc="120" dirty="0">
                <a:solidFill>
                  <a:srgbClr val="B779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CARRERA</a:t>
            </a:r>
            <a:endParaRPr lang="en-US" sz="950" dirty="0"/>
          </a:p>
        </p:txBody>
      </p:sp>
      <p:sp>
        <p:nvSpPr>
          <p:cNvPr id="12" name="Text 10"/>
          <p:cNvSpPr txBox="1"/>
          <p:nvPr/>
        </p:nvSpPr>
        <p:spPr>
          <a:xfrm>
            <a:off x="3246120" y="5029200"/>
            <a:ext cx="246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Ingeniería en Informática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5852160" y="4800600"/>
            <a:ext cx="2468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kern="0" spc="120" dirty="0">
                <a:solidFill>
                  <a:srgbClr val="B779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SEDE</a:t>
            </a:r>
            <a:endParaRPr lang="en-US" sz="950" dirty="0"/>
          </a:p>
        </p:txBody>
      </p:sp>
      <p:sp>
        <p:nvSpPr>
          <p:cNvPr id="14" name="Text 12"/>
          <p:cNvSpPr txBox="1"/>
          <p:nvPr/>
        </p:nvSpPr>
        <p:spPr>
          <a:xfrm>
            <a:off x="5852160" y="5029200"/>
            <a:ext cx="246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Viña del Mar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8458200" y="4800600"/>
            <a:ext cx="2468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kern="0" spc="120" dirty="0">
                <a:solidFill>
                  <a:srgbClr val="B779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PROFESOR GUÍA</a:t>
            </a:r>
            <a:endParaRPr lang="en-US" sz="950" dirty="0"/>
          </a:p>
        </p:txBody>
      </p:sp>
      <p:sp>
        <p:nvSpPr>
          <p:cNvPr id="16" name="Text 14"/>
          <p:cNvSpPr txBox="1"/>
          <p:nvPr/>
        </p:nvSpPr>
        <p:spPr>
          <a:xfrm>
            <a:off x="8458200" y="5029200"/>
            <a:ext cx="246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Cristian Molina Pedernera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640080" y="59436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Septiembre de 2026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384048"/>
            <a:ext cx="100584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spc="200">
                <a:solidFill>
                  <a:srgbClr val="B7791F"/>
                </a:solidFill>
                <a:latin typeface="Calibri"/>
              </a:rPr>
              <a:t>CONTEXTO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881360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200" b="1" dirty="0">
                <a:solidFill>
                  <a:srgbClr val="1E2761"/>
                </a:solidFill>
                <a:latin typeface="Cambria"/>
              </a:rPr>
              <a:t>Un </a:t>
            </a:r>
            <a:r>
              <a:rPr sz="3200" b="1" dirty="0" err="1">
                <a:solidFill>
                  <a:srgbClr val="1E2761"/>
                </a:solidFill>
                <a:latin typeface="Cambria"/>
              </a:rPr>
              <a:t>proyecto</a:t>
            </a:r>
            <a:r>
              <a:rPr sz="3200" b="1" dirty="0">
                <a:solidFill>
                  <a:srgbClr val="1E2761"/>
                </a:solidFill>
                <a:latin typeface="Cambria"/>
              </a:rPr>
              <a:t> de </a:t>
            </a:r>
            <a:r>
              <a:rPr sz="3200" b="1" dirty="0" err="1">
                <a:solidFill>
                  <a:srgbClr val="1E2761"/>
                </a:solidFill>
                <a:latin typeface="Cambria"/>
              </a:rPr>
              <a:t>continuidad</a:t>
            </a:r>
            <a:r>
              <a:rPr sz="3200" b="1" dirty="0">
                <a:solidFill>
                  <a:srgbClr val="1E2761"/>
                </a:solidFill>
                <a:latin typeface="Cambria"/>
              </a:rPr>
              <a:t>, no de </a:t>
            </a:r>
            <a:r>
              <a:rPr sz="3200" b="1" dirty="0" err="1">
                <a:solidFill>
                  <a:srgbClr val="1E2761"/>
                </a:solidFill>
                <a:latin typeface="Cambria"/>
              </a:rPr>
              <a:t>creación</a:t>
            </a:r>
            <a:endParaRPr sz="3200" b="1" dirty="0">
              <a:solidFill>
                <a:srgbClr val="1E2761"/>
              </a:solidFill>
              <a:latin typeface="Cambria"/>
            </a:endParaRPr>
          </a:p>
        </p:txBody>
      </p:sp>
      <p:sp>
        <p:nvSpPr>
          <p:cNvPr id="5" name="Rounded Rectangle 4"/>
          <p:cNvSpPr/>
          <p:nvPr/>
        </p:nvSpPr>
        <p:spPr>
          <a:xfrm>
            <a:off x="640080" y="2487168"/>
            <a:ext cx="3502152" cy="1965960"/>
          </a:xfrm>
          <a:prstGeom prst="roundRect">
            <a:avLst>
              <a:gd name="adj" fmla="val 4000"/>
            </a:avLst>
          </a:prstGeom>
          <a:solidFill>
            <a:srgbClr val="F2F5FA"/>
          </a:solidFill>
          <a:ln w="9525">
            <a:solidFill>
              <a:srgbClr val="D8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932688" y="2761488"/>
            <a:ext cx="457200" cy="64008"/>
          </a:xfrm>
          <a:prstGeom prst="roundRect">
            <a:avLst/>
          </a:prstGeom>
          <a:solidFill>
            <a:srgbClr val="B779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932688" y="3017520"/>
            <a:ext cx="2916936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spc="200">
                <a:solidFill>
                  <a:srgbClr val="B7791F"/>
                </a:solidFill>
                <a:latin typeface="Calibri"/>
              </a:rPr>
              <a:t>LA EMPRESA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32688" y="3401568"/>
            <a:ext cx="2916936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200"/>
              </a:lnSpc>
              <a:spcAft>
                <a:spcPts val="0"/>
              </a:spcAft>
            </a:pPr>
            <a:r>
              <a:rPr sz="1450" b="0">
                <a:solidFill>
                  <a:srgbClr val="1B2233"/>
                </a:solidFill>
                <a:latin typeface="Calibri"/>
              </a:rPr>
              <a:t>Alloxentric desarrolla Project Dossier,</a:t>
            </a:r>
          </a:p>
          <a:p>
            <a:pPr algn="l">
              <a:lnSpc>
                <a:spcPts val="2200"/>
              </a:lnSpc>
              <a:spcAft>
                <a:spcPts val="0"/>
              </a:spcAft>
            </a:pPr>
            <a:r>
              <a:rPr sz="1450" b="0">
                <a:solidFill>
                  <a:srgbClr val="1B2233"/>
                </a:solidFill>
                <a:latin typeface="Calibri"/>
              </a:rPr>
              <a:t>un asistente que prepara reuniones de trabajo.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43400" y="2487168"/>
            <a:ext cx="3502152" cy="1965960"/>
          </a:xfrm>
          <a:prstGeom prst="roundRect">
            <a:avLst>
              <a:gd name="adj" fmla="val 4000"/>
            </a:avLst>
          </a:prstGeom>
          <a:solidFill>
            <a:srgbClr val="F2F5FA"/>
          </a:solidFill>
          <a:ln w="9525">
            <a:solidFill>
              <a:srgbClr val="D8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4636008" y="2761488"/>
            <a:ext cx="457200" cy="64008"/>
          </a:xfrm>
          <a:prstGeom prst="roundRect">
            <a:avLst/>
          </a:prstGeom>
          <a:solidFill>
            <a:srgbClr val="B779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636008" y="3017520"/>
            <a:ext cx="2916936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spc="200">
                <a:solidFill>
                  <a:srgbClr val="B7791F"/>
                </a:solidFill>
                <a:latin typeface="Calibri"/>
              </a:rPr>
              <a:t>EL ESTADO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36008" y="3401568"/>
            <a:ext cx="2916936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200"/>
              </a:lnSpc>
              <a:spcAft>
                <a:spcPts val="0"/>
              </a:spcAft>
            </a:pPr>
            <a:r>
              <a:rPr sz="1450" b="0">
                <a:solidFill>
                  <a:srgbClr val="1B2233"/>
                </a:solidFill>
                <a:latin typeface="Calibri"/>
              </a:rPr>
              <a:t>Quedó incompleto frente a lo que</a:t>
            </a:r>
          </a:p>
          <a:p>
            <a:pPr algn="l">
              <a:lnSpc>
                <a:spcPts val="2200"/>
              </a:lnSpc>
              <a:spcAft>
                <a:spcPts val="0"/>
              </a:spcAft>
            </a:pPr>
            <a:r>
              <a:rPr sz="1450" b="0">
                <a:solidFill>
                  <a:srgbClr val="1B2233"/>
                </a:solidFill>
                <a:latin typeface="Calibri"/>
              </a:rPr>
              <a:t>su propia especificación promete.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46719" y="2487168"/>
            <a:ext cx="3502152" cy="1965960"/>
          </a:xfrm>
          <a:prstGeom prst="roundRect">
            <a:avLst>
              <a:gd name="adj" fmla="val 4000"/>
            </a:avLst>
          </a:prstGeom>
          <a:solidFill>
            <a:srgbClr val="F2F5FA"/>
          </a:solidFill>
          <a:ln w="9525">
            <a:solidFill>
              <a:srgbClr val="D8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ounded Rectangle 13"/>
          <p:cNvSpPr/>
          <p:nvPr/>
        </p:nvSpPr>
        <p:spPr>
          <a:xfrm>
            <a:off x="8339327" y="2761488"/>
            <a:ext cx="457200" cy="64008"/>
          </a:xfrm>
          <a:prstGeom prst="roundRect">
            <a:avLst/>
          </a:prstGeom>
          <a:solidFill>
            <a:srgbClr val="B779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8339327" y="3017520"/>
            <a:ext cx="2916936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spc="200">
                <a:solidFill>
                  <a:srgbClr val="B7791F"/>
                </a:solidFill>
                <a:latin typeface="Calibri"/>
              </a:rPr>
              <a:t>NUESTRO ROL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39327" y="3401568"/>
            <a:ext cx="2916936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200"/>
              </a:lnSpc>
              <a:spcAft>
                <a:spcPts val="0"/>
              </a:spcAft>
            </a:pPr>
            <a:r>
              <a:rPr sz="1450" b="0">
                <a:solidFill>
                  <a:srgbClr val="1B2233"/>
                </a:solidFill>
                <a:latin typeface="Calibri"/>
              </a:rPr>
              <a:t>Continuarlo hasta dejarlo operativo</a:t>
            </a:r>
          </a:p>
          <a:p>
            <a:pPr algn="l">
              <a:lnSpc>
                <a:spcPts val="2200"/>
              </a:lnSpc>
              <a:spcAft>
                <a:spcPts val="0"/>
              </a:spcAft>
            </a:pPr>
            <a:r>
              <a:rPr sz="1450" b="0">
                <a:solidFill>
                  <a:srgbClr val="1B2233"/>
                </a:solidFill>
                <a:latin typeface="Calibri"/>
              </a:rPr>
              <a:t>con clientes reales.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10058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B779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PROBLEMA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58368"/>
            <a:ext cx="10881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Prepararse para una reunión externa cuesta caro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508760"/>
            <a:ext cx="5989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2400"/>
              </a:lnSpc>
              <a:buNone/>
            </a:pPr>
            <a:r>
              <a:rPr lang="en-US" sz="1500" dirty="0">
                <a:solidFill>
                  <a:srgbClr val="1B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antecedentes que se necesitan viven en sitios distintos. Buscarlos es manual, se repite en cada reunión y rara vez alcanza para revisar todo.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843784"/>
            <a:ext cx="402336" cy="402336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6" name="Text 4"/>
          <p:cNvSpPr txBox="1"/>
          <p:nvPr/>
        </p:nvSpPr>
        <p:spPr>
          <a:xfrm>
            <a:off x="640080" y="284378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1207008" y="2788920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Fuentes dispersas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1207008" y="3081528"/>
            <a:ext cx="5394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C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Perfiles, registros y prensa, cada uno por separado.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40080" y="3849624"/>
            <a:ext cx="402336" cy="402336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10" name="Text 8"/>
          <p:cNvSpPr txBox="1"/>
          <p:nvPr/>
        </p:nvSpPr>
        <p:spPr>
          <a:xfrm>
            <a:off x="640080" y="384962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1207008" y="3794760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Datos que se contradicen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1207008" y="4087368"/>
            <a:ext cx="5394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C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cargo declarado no siempre coincide con el registro oficial.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40080" y="4855464"/>
            <a:ext cx="402336" cy="402336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14" name="Text 12"/>
          <p:cNvSpPr txBox="1"/>
          <p:nvPr/>
        </p:nvSpPr>
        <p:spPr>
          <a:xfrm>
            <a:off x="640080" y="485546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1207008" y="4800600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Señales que nadie revisa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1207008" y="5093208"/>
            <a:ext cx="5394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C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Insolvencias y litigios quedan fuera.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7178040" y="1508760"/>
            <a:ext cx="4370832" cy="2788920"/>
          </a:xfrm>
          <a:prstGeom prst="roundRect">
            <a:avLst>
              <a:gd name="adj" fmla="val 1967"/>
            </a:avLst>
          </a:prstGeom>
          <a:solidFill>
            <a:srgbClr val="F2F5FA"/>
          </a:solidFill>
          <a:ln w="9525">
            <a:solidFill>
              <a:srgbClr val="D8DEE9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18" name="Text 16"/>
          <p:cNvSpPr txBox="1"/>
          <p:nvPr/>
        </p:nvSpPr>
        <p:spPr>
          <a:xfrm>
            <a:off x="7406640" y="1828800"/>
            <a:ext cx="3931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~20 min</a:t>
            </a:r>
            <a:endParaRPr lang="en-US" sz="6200" dirty="0"/>
          </a:p>
        </p:txBody>
      </p:sp>
      <p:sp>
        <p:nvSpPr>
          <p:cNvPr id="19" name="Text 17"/>
          <p:cNvSpPr txBox="1"/>
          <p:nvPr/>
        </p:nvSpPr>
        <p:spPr>
          <a:xfrm>
            <a:off x="7406640" y="278892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1B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preparación por reunión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7406640" y="3200400"/>
            <a:ext cx="3931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i="1" dirty="0">
                <a:solidFill>
                  <a:srgbClr val="5C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 del producto: menos de 30 segundos.</a:t>
            </a:r>
            <a:endParaRPr lang="en-US" sz="1150" dirty="0"/>
          </a:p>
          <a:p>
            <a:pPr marL="0" indent="0" algn="ctr">
              <a:buNone/>
            </a:pPr>
            <a:r>
              <a:rPr lang="en-US" sz="1150" i="1" dirty="0">
                <a:solidFill>
                  <a:srgbClr val="5C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medir, no demostrado.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7178040" y="4480560"/>
            <a:ext cx="4370832" cy="1234440"/>
          </a:xfrm>
          <a:prstGeom prst="roundRect">
            <a:avLst>
              <a:gd name="adj" fmla="val 4444"/>
            </a:avLst>
          </a:prstGeom>
          <a:solidFill>
            <a:srgbClr val="E7F2EC"/>
          </a:solidFill>
          <a:ln w="9525">
            <a:solidFill>
              <a:srgbClr val="2E7D5B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22" name="Text 20"/>
          <p:cNvSpPr txBox="1"/>
          <p:nvPr/>
        </p:nvSpPr>
        <p:spPr>
          <a:xfrm>
            <a:off x="7406640" y="4480560"/>
            <a:ext cx="39319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2E7D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Hoy ese nivel de preparación solo lo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b="1" dirty="0">
                <a:solidFill>
                  <a:srgbClr val="2E7D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alcanza quien tiene un asistente dedicado.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10058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B779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PRODUCTO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58368"/>
            <a:ext cx="10881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Project Dossier, un asistente de preparación de reuniones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481328"/>
            <a:ext cx="10881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2200"/>
              </a:lnSpc>
              <a:buNone/>
            </a:pPr>
            <a:r>
              <a:rPr lang="en-US" sz="1450" dirty="0">
                <a:solidFill>
                  <a:srgbClr val="1B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Alloxentric desarrolla un sistema que lee el calendario del usuario, busca antecedentes de los participantes en fuentes públicas y entrega un informe breve, con cada dato respaldado por su fuente, antes de que la reunión ocurra.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3383280" cy="1828800"/>
          </a:xfrm>
          <a:prstGeom prst="roundRect">
            <a:avLst>
              <a:gd name="adj" fmla="val 3000"/>
            </a:avLst>
          </a:prstGeom>
          <a:solidFill>
            <a:srgbClr val="F2F5FA"/>
          </a:solidFill>
          <a:ln w="9525">
            <a:solidFill>
              <a:srgbClr val="D8DEE9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6" name="Shape 4"/>
          <p:cNvSpPr/>
          <p:nvPr/>
        </p:nvSpPr>
        <p:spPr>
          <a:xfrm>
            <a:off x="896112" y="2578608"/>
            <a:ext cx="457200" cy="457200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7" name="Text 5"/>
          <p:cNvSpPr txBox="1"/>
          <p:nvPr/>
        </p:nvSpPr>
        <p:spPr>
          <a:xfrm>
            <a:off x="896112" y="257860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1463040" y="2606040"/>
            <a:ext cx="2377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Detecta</a:t>
            </a:r>
            <a:endParaRPr lang="en-US" sz="1700" dirty="0"/>
          </a:p>
        </p:txBody>
      </p:sp>
      <p:sp>
        <p:nvSpPr>
          <p:cNvPr id="9" name="Text 7"/>
          <p:cNvSpPr txBox="1"/>
          <p:nvPr/>
        </p:nvSpPr>
        <p:spPr>
          <a:xfrm>
            <a:off x="896112" y="3072384"/>
            <a:ext cx="2880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C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Lee el calendario y reconoce las reuniones con participantes externos.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4041648" y="2971800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B779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4297680" y="2331720"/>
            <a:ext cx="3383280" cy="1828800"/>
          </a:xfrm>
          <a:prstGeom prst="roundRect">
            <a:avLst>
              <a:gd name="adj" fmla="val 3000"/>
            </a:avLst>
          </a:prstGeom>
          <a:solidFill>
            <a:srgbClr val="F2F5FA"/>
          </a:solidFill>
          <a:ln w="9525">
            <a:solidFill>
              <a:srgbClr val="D8DEE9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12" name="Shape 10"/>
          <p:cNvSpPr/>
          <p:nvPr/>
        </p:nvSpPr>
        <p:spPr>
          <a:xfrm>
            <a:off x="4553712" y="2578608"/>
            <a:ext cx="457200" cy="457200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13" name="Text 11"/>
          <p:cNvSpPr txBox="1"/>
          <p:nvPr/>
        </p:nvSpPr>
        <p:spPr>
          <a:xfrm>
            <a:off x="4553712" y="257860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5120640" y="2606040"/>
            <a:ext cx="2377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Investiga</a:t>
            </a:r>
            <a:endParaRPr lang="en-US" sz="1700" dirty="0"/>
          </a:p>
        </p:txBody>
      </p:sp>
      <p:sp>
        <p:nvSpPr>
          <p:cNvPr id="15" name="Text 13"/>
          <p:cNvSpPr txBox="1"/>
          <p:nvPr/>
        </p:nvSpPr>
        <p:spPr>
          <a:xfrm>
            <a:off x="4553712" y="3072384"/>
            <a:ext cx="2880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C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Consulta registros corporativos oficiales, perfiles profesionales y prensa.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7699248" y="2971800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B779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17" name="Shape 15"/>
          <p:cNvSpPr/>
          <p:nvPr/>
        </p:nvSpPr>
        <p:spPr>
          <a:xfrm>
            <a:off x="7955280" y="2331720"/>
            <a:ext cx="3383280" cy="1828800"/>
          </a:xfrm>
          <a:prstGeom prst="roundRect">
            <a:avLst>
              <a:gd name="adj" fmla="val 3000"/>
            </a:avLst>
          </a:prstGeom>
          <a:solidFill>
            <a:srgbClr val="F2F5FA"/>
          </a:solidFill>
          <a:ln w="9525">
            <a:solidFill>
              <a:srgbClr val="D8DEE9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18" name="Shape 16"/>
          <p:cNvSpPr/>
          <p:nvPr/>
        </p:nvSpPr>
        <p:spPr>
          <a:xfrm>
            <a:off x="8211312" y="2578608"/>
            <a:ext cx="457200" cy="457200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19" name="Text 17"/>
          <p:cNvSpPr txBox="1"/>
          <p:nvPr/>
        </p:nvSpPr>
        <p:spPr>
          <a:xfrm>
            <a:off x="8211312" y="257860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8778240" y="2606040"/>
            <a:ext cx="2377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Entrega</a:t>
            </a:r>
            <a:endParaRPr lang="en-US" sz="1700" dirty="0"/>
          </a:p>
        </p:txBody>
      </p:sp>
      <p:sp>
        <p:nvSpPr>
          <p:cNvPr id="21" name="Text 19"/>
          <p:cNvSpPr txBox="1"/>
          <p:nvPr/>
        </p:nvSpPr>
        <p:spPr>
          <a:xfrm>
            <a:off x="8211312" y="3072384"/>
            <a:ext cx="2880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C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Entrega un informe con alertas, trayectoria profesional y las fuentes citadas.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640080" y="4526280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kern="0" spc="150" dirty="0">
                <a:solidFill>
                  <a:srgbClr val="B779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QUIÉNES SIRVE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640080" y="4828032"/>
            <a:ext cx="2044598" cy="457200"/>
          </a:xfrm>
          <a:prstGeom prst="roundRect">
            <a:avLst>
              <a:gd name="adj" fmla="val 50000"/>
            </a:avLst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24" name="Text 22"/>
          <p:cNvSpPr txBox="1"/>
          <p:nvPr/>
        </p:nvSpPr>
        <p:spPr>
          <a:xfrm>
            <a:off x="731520" y="4828032"/>
            <a:ext cx="186171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Ejecutivos y gerentes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2849270" y="4828032"/>
            <a:ext cx="2044598" cy="457200"/>
          </a:xfrm>
          <a:prstGeom prst="roundRect">
            <a:avLst>
              <a:gd name="adj" fmla="val 50000"/>
            </a:avLst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26" name="Text 24"/>
          <p:cNvSpPr txBox="1"/>
          <p:nvPr/>
        </p:nvSpPr>
        <p:spPr>
          <a:xfrm>
            <a:off x="2940710" y="4828032"/>
            <a:ext cx="186171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Equipos comerciales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5058461" y="4828032"/>
            <a:ext cx="2044598" cy="457200"/>
          </a:xfrm>
          <a:prstGeom prst="roundRect">
            <a:avLst>
              <a:gd name="adj" fmla="val 50000"/>
            </a:avLst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28" name="Text 26"/>
          <p:cNvSpPr txBox="1"/>
          <p:nvPr/>
        </p:nvSpPr>
        <p:spPr>
          <a:xfrm>
            <a:off x="5149901" y="4828032"/>
            <a:ext cx="186171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Reclutadores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7267651" y="4828032"/>
            <a:ext cx="2044598" cy="457200"/>
          </a:xfrm>
          <a:prstGeom prst="roundRect">
            <a:avLst>
              <a:gd name="adj" fmla="val 50000"/>
            </a:avLst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30" name="Text 28"/>
          <p:cNvSpPr txBox="1"/>
          <p:nvPr/>
        </p:nvSpPr>
        <p:spPr>
          <a:xfrm>
            <a:off x="7359091" y="4828032"/>
            <a:ext cx="186171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Fundadores e inversionistas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9476842" y="4828032"/>
            <a:ext cx="2044598" cy="457200"/>
          </a:xfrm>
          <a:prstGeom prst="roundRect">
            <a:avLst>
              <a:gd name="adj" fmla="val 50000"/>
            </a:avLst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32" name="Text 30"/>
          <p:cNvSpPr txBox="1"/>
          <p:nvPr/>
        </p:nvSpPr>
        <p:spPr>
          <a:xfrm>
            <a:off x="9568282" y="4828032"/>
            <a:ext cx="186171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Profesionales independientes</a:t>
            </a:r>
            <a:endParaRPr lang="en-US" sz="1050" dirty="0"/>
          </a:p>
        </p:txBody>
      </p:sp>
      <p:sp>
        <p:nvSpPr>
          <p:cNvPr id="33" name="Shape 31"/>
          <p:cNvSpPr/>
          <p:nvPr/>
        </p:nvSpPr>
        <p:spPr>
          <a:xfrm>
            <a:off x="640080" y="5486400"/>
            <a:ext cx="10881360" cy="749808"/>
          </a:xfrm>
          <a:prstGeom prst="roundRect">
            <a:avLst>
              <a:gd name="adj" fmla="val 7317"/>
            </a:avLst>
          </a:prstGeom>
          <a:solidFill>
            <a:srgbClr val="FBF3E2"/>
          </a:solidFill>
          <a:ln w="9525">
            <a:solidFill>
              <a:srgbClr val="B7791F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34" name="Text 32"/>
          <p:cNvSpPr txBox="1"/>
          <p:nvPr/>
        </p:nvSpPr>
        <p:spPr>
          <a:xfrm>
            <a:off x="896112" y="5486400"/>
            <a:ext cx="103327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B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Mercado con foco inicial en Reino Unido y Estados Unidos, con expansión prevista a Europa continental. Eso define qué registros de empresas debe cubrir el sistema.</a:t>
            </a:r>
            <a:endParaRPr lang="en-US" sz="12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384048"/>
            <a:ext cx="100584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spc="200" dirty="0">
                <a:solidFill>
                  <a:srgbClr val="B7791F"/>
                </a:solidFill>
                <a:latin typeface="Calibri"/>
              </a:rPr>
              <a:t>TECNOLOGÍAS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881360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200" b="1" dirty="0">
                <a:solidFill>
                  <a:srgbClr val="1E2761"/>
                </a:solidFill>
                <a:latin typeface="Cambria"/>
              </a:rPr>
              <a:t>Las </a:t>
            </a:r>
            <a:r>
              <a:rPr sz="3200" b="1" dirty="0" err="1">
                <a:solidFill>
                  <a:srgbClr val="1E2761"/>
                </a:solidFill>
                <a:latin typeface="Cambria"/>
              </a:rPr>
              <a:t>tecnologías</a:t>
            </a:r>
            <a:r>
              <a:rPr sz="3200" b="1" dirty="0">
                <a:solidFill>
                  <a:srgbClr val="1E2761"/>
                </a:solidFill>
                <a:latin typeface="Cambria"/>
              </a:rPr>
              <a:t> con las </a:t>
            </a:r>
            <a:r>
              <a:rPr sz="3200" b="1" dirty="0" err="1">
                <a:solidFill>
                  <a:srgbClr val="1E2761"/>
                </a:solidFill>
                <a:latin typeface="Cambria"/>
              </a:rPr>
              <a:t>que</a:t>
            </a:r>
            <a:r>
              <a:rPr sz="3200" b="1" dirty="0">
                <a:solidFill>
                  <a:srgbClr val="1E2761"/>
                </a:solidFill>
                <a:latin typeface="Cambria"/>
              </a:rPr>
              <a:t> </a:t>
            </a:r>
            <a:r>
              <a:rPr sz="3200" b="1" dirty="0" err="1">
                <a:solidFill>
                  <a:srgbClr val="1E2761"/>
                </a:solidFill>
                <a:latin typeface="Cambria"/>
              </a:rPr>
              <a:t>está</a:t>
            </a:r>
            <a:r>
              <a:rPr sz="3200" b="1" dirty="0">
                <a:solidFill>
                  <a:srgbClr val="1E2761"/>
                </a:solidFill>
                <a:latin typeface="Cambria"/>
              </a:rPr>
              <a:t> </a:t>
            </a:r>
            <a:r>
              <a:rPr sz="3200" b="1" dirty="0" err="1">
                <a:solidFill>
                  <a:srgbClr val="1E2761"/>
                </a:solidFill>
                <a:latin typeface="Cambria"/>
              </a:rPr>
              <a:t>construido</a:t>
            </a:r>
            <a:endParaRPr sz="3200" b="1" dirty="0">
              <a:solidFill>
                <a:srgbClr val="1E2761"/>
              </a:solidFill>
              <a:latin typeface="Cambria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640080" y="1463040"/>
            <a:ext cx="10881360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1B2233"/>
                </a:solidFill>
                <a:latin typeface="Calibri"/>
              </a:rPr>
              <a:t>El sistema ya está hecho con estas herramientas. No las elegimos nosotros: las heredamos y trabajamos sobre ellas.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993392"/>
            <a:ext cx="3502152" cy="1481328"/>
          </a:xfrm>
          <a:prstGeom prst="roundRect">
            <a:avLst>
              <a:gd name="adj" fmla="val 5000"/>
            </a:avLst>
          </a:prstGeom>
          <a:solidFill>
            <a:srgbClr val="F2F5FA"/>
          </a:solidFill>
          <a:ln w="9525">
            <a:solidFill>
              <a:srgbClr val="D8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914400" y="2194560"/>
            <a:ext cx="2953512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 spc="180">
                <a:solidFill>
                  <a:srgbClr val="B7791F"/>
                </a:solidFill>
                <a:latin typeface="Calibri"/>
              </a:rPr>
              <a:t>FRONTEND</a:t>
            </a:r>
            <a:r>
              <a:rPr sz="950" b="0">
                <a:solidFill>
                  <a:srgbClr val="5C6675"/>
                </a:solidFill>
                <a:latin typeface="Calibri"/>
              </a:rPr>
              <a:t>  ·  lo que ve el usuario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14400" y="2523744"/>
            <a:ext cx="618134" cy="265176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9525">
            <a:solidFill>
              <a:srgbClr val="D8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8288" rIns="18288" rtlCol="0" anchor="ctr"/>
          <a:lstStyle/>
          <a:p>
            <a:pPr algn="ctr"/>
            <a:r>
              <a:rPr sz="1050" b="1">
                <a:solidFill>
                  <a:srgbClr val="1E2761"/>
                </a:solidFill>
                <a:latin typeface="Calibri"/>
              </a:rPr>
              <a:t>Next.js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623974" y="2523744"/>
            <a:ext cx="475488" cy="265176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9525">
            <a:solidFill>
              <a:srgbClr val="D8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8288" rIns="18288" rtlCol="0" anchor="ctr"/>
          <a:lstStyle/>
          <a:p>
            <a:pPr algn="ctr"/>
            <a:r>
              <a:rPr sz="1050" b="1">
                <a:solidFill>
                  <a:srgbClr val="1E2761"/>
                </a:solidFill>
                <a:latin typeface="Calibri"/>
              </a:rPr>
              <a:t>React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190902" y="2523744"/>
            <a:ext cx="832104" cy="265176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9525">
            <a:solidFill>
              <a:srgbClr val="D8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8288" rIns="18288" rtlCol="0" anchor="ctr"/>
          <a:lstStyle/>
          <a:p>
            <a:pPr algn="ctr"/>
            <a:r>
              <a:rPr sz="1050" b="1">
                <a:solidFill>
                  <a:srgbClr val="1E2761"/>
                </a:solidFill>
                <a:latin typeface="Calibri"/>
              </a:rPr>
              <a:t>TypeScript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14400" y="2834640"/>
            <a:ext cx="974750" cy="265176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9525">
            <a:solidFill>
              <a:srgbClr val="D8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8288" rIns="18288" rtlCol="0" anchor="ctr"/>
          <a:lstStyle/>
          <a:p>
            <a:pPr algn="ctr"/>
            <a:r>
              <a:rPr sz="1050" b="1" dirty="0">
                <a:solidFill>
                  <a:srgbClr val="1E2761"/>
                </a:solidFill>
                <a:latin typeface="Calibri"/>
              </a:rPr>
              <a:t>Tailwind CSS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43400" y="1993392"/>
            <a:ext cx="3502152" cy="1481328"/>
          </a:xfrm>
          <a:prstGeom prst="roundRect">
            <a:avLst>
              <a:gd name="adj" fmla="val 5000"/>
            </a:avLst>
          </a:prstGeom>
          <a:solidFill>
            <a:srgbClr val="F2F5FA"/>
          </a:solidFill>
          <a:ln w="9525">
            <a:solidFill>
              <a:srgbClr val="D8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617720" y="2194560"/>
            <a:ext cx="2953512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 spc="180" dirty="0">
                <a:solidFill>
                  <a:srgbClr val="B7791F"/>
                </a:solidFill>
                <a:latin typeface="Calibri"/>
              </a:rPr>
              <a:t>BACKEND</a:t>
            </a:r>
            <a:r>
              <a:rPr sz="950" b="0" dirty="0">
                <a:solidFill>
                  <a:srgbClr val="5C6675"/>
                </a:solidFill>
                <a:latin typeface="Calibri"/>
              </a:rPr>
              <a:t>  ·  el motor </a:t>
            </a:r>
            <a:r>
              <a:rPr sz="950" b="0" dirty="0" err="1">
                <a:solidFill>
                  <a:srgbClr val="5C6675"/>
                </a:solidFill>
                <a:latin typeface="Calibri"/>
              </a:rPr>
              <a:t>que</a:t>
            </a:r>
            <a:r>
              <a:rPr sz="950" b="0" dirty="0">
                <a:solidFill>
                  <a:srgbClr val="5C6675"/>
                </a:solidFill>
                <a:latin typeface="Calibri"/>
              </a:rPr>
              <a:t> </a:t>
            </a:r>
            <a:r>
              <a:rPr sz="950" b="0" dirty="0" err="1">
                <a:solidFill>
                  <a:srgbClr val="5C6675"/>
                </a:solidFill>
                <a:latin typeface="Calibri"/>
              </a:rPr>
              <a:t>procesa</a:t>
            </a:r>
            <a:endParaRPr sz="950" b="0" dirty="0">
              <a:solidFill>
                <a:srgbClr val="5C6675"/>
              </a:solidFill>
              <a:latin typeface="Calibri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4617720" y="2523744"/>
            <a:ext cx="546811" cy="265176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9525">
            <a:solidFill>
              <a:srgbClr val="D8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8288" rIns="18288" rtlCol="0" anchor="ctr"/>
          <a:lstStyle/>
          <a:p>
            <a:pPr algn="ctr"/>
            <a:r>
              <a:rPr sz="1050" b="1">
                <a:solidFill>
                  <a:srgbClr val="1E2761"/>
                </a:solidFill>
                <a:latin typeface="Calibri"/>
              </a:rPr>
              <a:t>Python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255971" y="2523744"/>
            <a:ext cx="618134" cy="265176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9525">
            <a:solidFill>
              <a:srgbClr val="D8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8288" rIns="18288" rtlCol="0" anchor="ctr"/>
          <a:lstStyle/>
          <a:p>
            <a:pPr algn="ctr"/>
            <a:r>
              <a:rPr sz="1050" b="1">
                <a:solidFill>
                  <a:srgbClr val="1E2761"/>
                </a:solidFill>
                <a:latin typeface="Calibri"/>
              </a:rPr>
              <a:t>FastAPI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965545" y="2523744"/>
            <a:ext cx="832104" cy="265176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9525">
            <a:solidFill>
              <a:srgbClr val="D8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8288" rIns="18288" rtlCol="0" anchor="ctr"/>
          <a:lstStyle/>
          <a:p>
            <a:pPr algn="ctr"/>
            <a:r>
              <a:rPr sz="1050" b="1">
                <a:solidFill>
                  <a:srgbClr val="1E2761"/>
                </a:solidFill>
                <a:latin typeface="Calibri"/>
              </a:rPr>
              <a:t>SQLAlchemy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889089" y="2523744"/>
            <a:ext cx="618134" cy="265176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9525">
            <a:solidFill>
              <a:srgbClr val="D8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8288" rIns="18288" rtlCol="0" anchor="ctr"/>
          <a:lstStyle/>
          <a:p>
            <a:pPr algn="ctr"/>
            <a:r>
              <a:rPr sz="1050" b="1">
                <a:solidFill>
                  <a:srgbClr val="1E2761"/>
                </a:solidFill>
                <a:latin typeface="Calibri"/>
              </a:rPr>
              <a:t>Uvicorn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46719" y="1993392"/>
            <a:ext cx="3502152" cy="1481328"/>
          </a:xfrm>
          <a:prstGeom prst="roundRect">
            <a:avLst>
              <a:gd name="adj" fmla="val 5000"/>
            </a:avLst>
          </a:prstGeom>
          <a:solidFill>
            <a:srgbClr val="F2F5FA"/>
          </a:solidFill>
          <a:ln w="9525">
            <a:solidFill>
              <a:srgbClr val="D8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8321040" y="2194560"/>
            <a:ext cx="2953512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 spc="180">
                <a:solidFill>
                  <a:srgbClr val="B7791F"/>
                </a:solidFill>
                <a:latin typeface="Calibri"/>
              </a:rPr>
              <a:t>DATOS</a:t>
            </a:r>
            <a:r>
              <a:rPr sz="950" b="0">
                <a:solidFill>
                  <a:srgbClr val="5C6675"/>
                </a:solidFill>
                <a:latin typeface="Calibri"/>
              </a:rPr>
              <a:t>  ·  dónde se guarda todo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321040" y="2523744"/>
            <a:ext cx="832104" cy="265176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9525">
            <a:solidFill>
              <a:srgbClr val="D8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8288" rIns="18288" rtlCol="0" anchor="ctr"/>
          <a:lstStyle/>
          <a:p>
            <a:pPr algn="ctr"/>
            <a:r>
              <a:rPr sz="1050" b="1">
                <a:solidFill>
                  <a:srgbClr val="1E2761"/>
                </a:solidFill>
                <a:latin typeface="Calibri"/>
              </a:rPr>
              <a:t>PostgreSQL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244584" y="2523744"/>
            <a:ext cx="475488" cy="265176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9525">
            <a:solidFill>
              <a:srgbClr val="D8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8288" rIns="18288" rtlCol="0" anchor="ctr"/>
          <a:lstStyle/>
          <a:p>
            <a:pPr algn="ctr"/>
            <a:r>
              <a:rPr sz="1050" b="1">
                <a:solidFill>
                  <a:srgbClr val="1E2761"/>
                </a:solidFill>
                <a:latin typeface="Calibri"/>
              </a:rPr>
              <a:t>Redis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3657600"/>
            <a:ext cx="3502152" cy="1481328"/>
          </a:xfrm>
          <a:prstGeom prst="roundRect">
            <a:avLst>
              <a:gd name="adj" fmla="val 5000"/>
            </a:avLst>
          </a:prstGeom>
          <a:solidFill>
            <a:srgbClr val="F2F5FA"/>
          </a:solidFill>
          <a:ln w="9525">
            <a:solidFill>
              <a:srgbClr val="D8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914400" y="3858768"/>
            <a:ext cx="2953512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 spc="180">
                <a:solidFill>
                  <a:srgbClr val="B7791F"/>
                </a:solidFill>
                <a:latin typeface="Calibri"/>
              </a:rPr>
              <a:t>SEGURIDAD</a:t>
            </a:r>
            <a:r>
              <a:rPr sz="950" b="0">
                <a:solidFill>
                  <a:srgbClr val="5C6675"/>
                </a:solidFill>
                <a:latin typeface="Calibri"/>
              </a:rPr>
              <a:t>  ·  quién puede entrar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14400" y="4187952"/>
            <a:ext cx="332841" cy="265176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9525">
            <a:solidFill>
              <a:srgbClr val="D8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8288" rIns="18288" rtlCol="0" anchor="ctr"/>
          <a:lstStyle/>
          <a:p>
            <a:pPr algn="ctr"/>
            <a:r>
              <a:rPr sz="1050" b="1">
                <a:solidFill>
                  <a:srgbClr val="1E2761"/>
                </a:solidFill>
                <a:latin typeface="Calibri"/>
              </a:rPr>
              <a:t>JWT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338681" y="4187952"/>
            <a:ext cx="760780" cy="265176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9525">
            <a:solidFill>
              <a:srgbClr val="D8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8288" rIns="18288" rtlCol="0" anchor="ctr"/>
          <a:lstStyle/>
          <a:p>
            <a:pPr algn="ctr"/>
            <a:r>
              <a:rPr sz="1050" b="1">
                <a:solidFill>
                  <a:srgbClr val="1E2761"/>
                </a:solidFill>
                <a:latin typeface="Calibri"/>
              </a:rPr>
              <a:t>OAuth 2.0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190902" y="4187952"/>
            <a:ext cx="546811" cy="265176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9525">
            <a:solidFill>
              <a:srgbClr val="D8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8288" rIns="18288" rtlCol="0" anchor="ctr"/>
          <a:lstStyle/>
          <a:p>
            <a:pPr algn="ctr"/>
            <a:r>
              <a:rPr sz="1050" b="1">
                <a:solidFill>
                  <a:srgbClr val="1E2761"/>
                </a:solidFill>
                <a:latin typeface="Calibri"/>
              </a:rPr>
              <a:t>bcrypt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343400" y="3657600"/>
            <a:ext cx="3502152" cy="1481328"/>
          </a:xfrm>
          <a:prstGeom prst="roundRect">
            <a:avLst>
              <a:gd name="adj" fmla="val 5000"/>
            </a:avLst>
          </a:prstGeom>
          <a:solidFill>
            <a:srgbClr val="F2F5FA"/>
          </a:solidFill>
          <a:ln w="9525">
            <a:solidFill>
              <a:srgbClr val="D8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4617720" y="3858768"/>
            <a:ext cx="2953512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 spc="180">
                <a:solidFill>
                  <a:srgbClr val="B7791F"/>
                </a:solidFill>
                <a:latin typeface="Calibri"/>
              </a:rPr>
              <a:t>AGENTES E IA</a:t>
            </a:r>
            <a:r>
              <a:rPr sz="950" b="0">
                <a:solidFill>
                  <a:srgbClr val="5C6675"/>
                </a:solidFill>
                <a:latin typeface="Calibri"/>
              </a:rPr>
              <a:t>  ·  busca y redacta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617720" y="4187952"/>
            <a:ext cx="760780" cy="265176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9525">
            <a:solidFill>
              <a:srgbClr val="D8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8288" rIns="18288" rtlCol="0" anchor="ctr"/>
          <a:lstStyle/>
          <a:p>
            <a:pPr algn="ctr"/>
            <a:r>
              <a:rPr sz="1050" b="1">
                <a:solidFill>
                  <a:srgbClr val="1E2761"/>
                </a:solidFill>
                <a:latin typeface="Calibri"/>
              </a:rPr>
              <a:t>LangGraph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469940" y="4187952"/>
            <a:ext cx="1402689" cy="265176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9525">
            <a:solidFill>
              <a:srgbClr val="D8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8288" rIns="18288" rtlCol="0" anchor="ctr"/>
          <a:lstStyle/>
          <a:p>
            <a:pPr algn="ctr"/>
            <a:r>
              <a:rPr sz="1050" b="1">
                <a:solidFill>
                  <a:srgbClr val="1E2761"/>
                </a:solidFill>
                <a:latin typeface="Calibri"/>
              </a:rPr>
              <a:t>Modelo de lenguaje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617720" y="4498848"/>
            <a:ext cx="1474012" cy="265176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9525">
            <a:solidFill>
              <a:srgbClr val="D8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8288" rIns="18288" rtlCol="0" anchor="ctr"/>
          <a:lstStyle/>
          <a:p>
            <a:pPr algn="ctr"/>
            <a:r>
              <a:rPr sz="1050" b="1">
                <a:solidFill>
                  <a:srgbClr val="1E2761"/>
                </a:solidFill>
                <a:latin typeface="Calibri"/>
              </a:rPr>
              <a:t>Prompts localizados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046719" y="3657600"/>
            <a:ext cx="3502152" cy="1481328"/>
          </a:xfrm>
          <a:prstGeom prst="roundRect">
            <a:avLst>
              <a:gd name="adj" fmla="val 5000"/>
            </a:avLst>
          </a:prstGeom>
          <a:solidFill>
            <a:srgbClr val="F2F5FA"/>
          </a:solidFill>
          <a:ln w="9525">
            <a:solidFill>
              <a:srgbClr val="D8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8321040" y="3858768"/>
            <a:ext cx="2953512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 spc="180">
                <a:solidFill>
                  <a:srgbClr val="B7791F"/>
                </a:solidFill>
                <a:latin typeface="Calibri"/>
              </a:rPr>
              <a:t>SERVICIOS EXTERNOS</a:t>
            </a:r>
            <a:r>
              <a:rPr sz="950" b="0">
                <a:solidFill>
                  <a:srgbClr val="5C6675"/>
                </a:solidFill>
                <a:latin typeface="Calibri"/>
              </a:rPr>
              <a:t>  ·  de dónde salen los datos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8321040" y="4187952"/>
            <a:ext cx="1188719" cy="265176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9525">
            <a:solidFill>
              <a:srgbClr val="D8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8288" rIns="18288" rtlCol="0" anchor="ctr"/>
          <a:lstStyle/>
          <a:p>
            <a:pPr algn="ctr"/>
            <a:r>
              <a:rPr sz="1050" b="1">
                <a:solidFill>
                  <a:srgbClr val="1E2761"/>
                </a:solidFill>
                <a:latin typeface="Calibri"/>
              </a:rPr>
              <a:t>Companies House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9601200" y="4187952"/>
            <a:ext cx="760780" cy="265176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9525">
            <a:solidFill>
              <a:srgbClr val="D8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8288" rIns="18288" rtlCol="0" anchor="ctr"/>
          <a:lstStyle/>
          <a:p>
            <a:pPr algn="ctr"/>
            <a:r>
              <a:rPr sz="1050" b="1">
                <a:solidFill>
                  <a:srgbClr val="1E2761"/>
                </a:solidFill>
                <a:latin typeface="Calibri"/>
              </a:rPr>
              <a:t>SEC EDGAR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321040" y="4498848"/>
            <a:ext cx="1260043" cy="265176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9525">
            <a:solidFill>
              <a:srgbClr val="D8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8288" rIns="18288" rtlCol="0" anchor="ctr"/>
          <a:lstStyle/>
          <a:p>
            <a:pPr algn="ctr"/>
            <a:r>
              <a:rPr sz="1050" b="1">
                <a:solidFill>
                  <a:srgbClr val="1E2761"/>
                </a:solidFill>
                <a:latin typeface="Calibri"/>
              </a:rPr>
              <a:t>People Data Labs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9672523" y="4498848"/>
            <a:ext cx="1188719" cy="265176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9525">
            <a:solidFill>
              <a:srgbClr val="D8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8288" rIns="18288" rtlCol="0" anchor="ctr"/>
          <a:lstStyle/>
          <a:p>
            <a:pPr algn="ctr"/>
            <a:r>
              <a:rPr sz="1050" b="1">
                <a:solidFill>
                  <a:srgbClr val="1E2761"/>
                </a:solidFill>
                <a:latin typeface="Calibri"/>
              </a:rPr>
              <a:t>Google Calendar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8321040" y="4809744"/>
            <a:ext cx="1188719" cy="265176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9525">
            <a:solidFill>
              <a:srgbClr val="D8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8288" rIns="18288" rtlCol="0" anchor="ctr"/>
          <a:lstStyle/>
          <a:p>
            <a:pPr algn="ctr"/>
            <a:r>
              <a:rPr sz="1050" b="1">
                <a:solidFill>
                  <a:srgbClr val="1E2761"/>
                </a:solidFill>
                <a:latin typeface="Calibri"/>
              </a:rPr>
              <a:t>Microsoft Graph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10058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B779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TRABAJO DEL SEMESTRE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58368"/>
            <a:ext cx="10881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Cinco brechas entre lo que promete y lo que hace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463040"/>
            <a:ext cx="10881360" cy="768096"/>
          </a:xfrm>
          <a:prstGeom prst="roundRect">
            <a:avLst>
              <a:gd name="adj" fmla="val 7143"/>
            </a:avLst>
          </a:prstGeom>
          <a:solidFill>
            <a:srgbClr val="F2F5FA"/>
          </a:solidFill>
          <a:ln w="9525">
            <a:solidFill>
              <a:srgbClr val="D8DEE9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5" name="Shape 3"/>
          <p:cNvSpPr/>
          <p:nvPr/>
        </p:nvSpPr>
        <p:spPr>
          <a:xfrm>
            <a:off x="841248" y="1645920"/>
            <a:ext cx="402336" cy="402336"/>
          </a:xfrm>
          <a:prstGeom prst="ellipse">
            <a:avLst/>
          </a:prstGeom>
          <a:solidFill>
            <a:srgbClr val="B7791F"/>
          </a:solidFill>
          <a:ln w="12700">
            <a:solidFill>
              <a:srgbClr val="B7791F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6" name="Text 4"/>
          <p:cNvSpPr txBox="1"/>
          <p:nvPr/>
        </p:nvSpPr>
        <p:spPr>
          <a:xfrm>
            <a:off x="841248" y="164592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1389888" y="1545336"/>
            <a:ext cx="2880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Informe sin estructura</a:t>
            </a:r>
            <a:endParaRPr lang="en-US" sz="1350" dirty="0"/>
          </a:p>
        </p:txBody>
      </p:sp>
      <p:sp>
        <p:nvSpPr>
          <p:cNvPr id="8" name="Text 6"/>
          <p:cNvSpPr txBox="1"/>
          <p:nvPr/>
        </p:nvSpPr>
        <p:spPr>
          <a:xfrm>
            <a:off x="1389888" y="1819656"/>
            <a:ext cx="5943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C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informe se guarda como un texto seguido. Al no estar separado en datos, no se puede ordenar, filtrar ni comprobar automáticamente si una fuente es real.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40080" y="2322576"/>
            <a:ext cx="10881360" cy="768096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9525">
            <a:solidFill>
              <a:srgbClr val="D8DEE9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12" name="Shape 10"/>
          <p:cNvSpPr/>
          <p:nvPr/>
        </p:nvSpPr>
        <p:spPr>
          <a:xfrm>
            <a:off x="841248" y="2505456"/>
            <a:ext cx="402336" cy="402336"/>
          </a:xfrm>
          <a:prstGeom prst="ellipse">
            <a:avLst/>
          </a:prstGeom>
          <a:solidFill>
            <a:srgbClr val="B7791F"/>
          </a:solidFill>
          <a:ln w="12700">
            <a:solidFill>
              <a:srgbClr val="B7791F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13" name="Text 11"/>
          <p:cNvSpPr txBox="1"/>
          <p:nvPr/>
        </p:nvSpPr>
        <p:spPr>
          <a:xfrm>
            <a:off x="841248" y="250545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1389888" y="2404872"/>
            <a:ext cx="2880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Solo Reino Unido y Estados Unidos</a:t>
            </a:r>
            <a:endParaRPr lang="en-US" sz="1350" dirty="0"/>
          </a:p>
        </p:txBody>
      </p:sp>
      <p:sp>
        <p:nvSpPr>
          <p:cNvPr id="15" name="Text 13"/>
          <p:cNvSpPr txBox="1"/>
          <p:nvPr/>
        </p:nvSpPr>
        <p:spPr>
          <a:xfrm>
            <a:off x="1389888" y="2679192"/>
            <a:ext cx="5943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C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sistema consulta los registros de empresas británicos y estadounidenses, pero no los de Europa continental, que la especificación sí promete.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640080" y="3182112"/>
            <a:ext cx="10881360" cy="768096"/>
          </a:xfrm>
          <a:prstGeom prst="roundRect">
            <a:avLst>
              <a:gd name="adj" fmla="val 7143"/>
            </a:avLst>
          </a:prstGeom>
          <a:solidFill>
            <a:srgbClr val="F2F5FA"/>
          </a:solidFill>
          <a:ln w="9525">
            <a:solidFill>
              <a:srgbClr val="D8DEE9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19" name="Shape 17"/>
          <p:cNvSpPr/>
          <p:nvPr/>
        </p:nvSpPr>
        <p:spPr>
          <a:xfrm>
            <a:off x="841248" y="3364992"/>
            <a:ext cx="402336" cy="402336"/>
          </a:xfrm>
          <a:prstGeom prst="ellipse">
            <a:avLst/>
          </a:prstGeom>
          <a:solidFill>
            <a:srgbClr val="B7791F"/>
          </a:solidFill>
          <a:ln w="12700">
            <a:solidFill>
              <a:srgbClr val="B7791F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20" name="Text 18"/>
          <p:cNvSpPr txBox="1"/>
          <p:nvPr/>
        </p:nvSpPr>
        <p:spPr>
          <a:xfrm>
            <a:off x="841248" y="336499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1389888" y="3264408"/>
            <a:ext cx="2880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busca en prensa</a:t>
            </a:r>
            <a:endParaRPr lang="en-US" sz="1350" dirty="0"/>
          </a:p>
        </p:txBody>
      </p:sp>
      <p:sp>
        <p:nvSpPr>
          <p:cNvPr id="22" name="Text 20"/>
          <p:cNvSpPr txBox="1"/>
          <p:nvPr/>
        </p:nvSpPr>
        <p:spPr>
          <a:xfrm>
            <a:off x="1389888" y="3480692"/>
            <a:ext cx="5943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C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sistema no revisa noticias ni prensa sobre la persona o la empresa.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640080" y="4041648"/>
            <a:ext cx="10881360" cy="768096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9525">
            <a:solidFill>
              <a:srgbClr val="D8DEE9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26" name="Shape 24"/>
          <p:cNvSpPr/>
          <p:nvPr/>
        </p:nvSpPr>
        <p:spPr>
          <a:xfrm>
            <a:off x="841248" y="4224528"/>
            <a:ext cx="402336" cy="402336"/>
          </a:xfrm>
          <a:prstGeom prst="ellipse">
            <a:avLst/>
          </a:prstGeom>
          <a:solidFill>
            <a:srgbClr val="B7791F"/>
          </a:solidFill>
          <a:ln w="12700">
            <a:solidFill>
              <a:srgbClr val="B7791F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27" name="Text 25"/>
          <p:cNvSpPr txBox="1"/>
          <p:nvPr/>
        </p:nvSpPr>
        <p:spPr>
          <a:xfrm>
            <a:off x="841248" y="422452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28" name="Text 26"/>
          <p:cNvSpPr txBox="1"/>
          <p:nvPr/>
        </p:nvSpPr>
        <p:spPr>
          <a:xfrm>
            <a:off x="1389888" y="4123944"/>
            <a:ext cx="2880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avance en tiempo real</a:t>
            </a:r>
            <a:endParaRPr lang="en-US" sz="1350" dirty="0"/>
          </a:p>
        </p:txBody>
      </p:sp>
      <p:sp>
        <p:nvSpPr>
          <p:cNvPr id="29" name="Text 27"/>
          <p:cNvSpPr txBox="1"/>
          <p:nvPr/>
        </p:nvSpPr>
        <p:spPr>
          <a:xfrm>
            <a:off x="1389888" y="4398264"/>
            <a:ext cx="5943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C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Mientras se genera el informe, el dashboard no muestra en qué paso va: solo pregunta cada tres segundos si ya terminó.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640080" y="4901184"/>
            <a:ext cx="10881360" cy="768096"/>
          </a:xfrm>
          <a:prstGeom prst="roundRect">
            <a:avLst>
              <a:gd name="adj" fmla="val 7143"/>
            </a:avLst>
          </a:prstGeom>
          <a:solidFill>
            <a:srgbClr val="F2F5FA"/>
          </a:solidFill>
          <a:ln w="9525">
            <a:solidFill>
              <a:srgbClr val="D8DEE9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33" name="Shape 31"/>
          <p:cNvSpPr/>
          <p:nvPr/>
        </p:nvSpPr>
        <p:spPr>
          <a:xfrm>
            <a:off x="841248" y="5084064"/>
            <a:ext cx="402336" cy="402336"/>
          </a:xfrm>
          <a:prstGeom prst="ellipse">
            <a:avLst/>
          </a:prstGeom>
          <a:solidFill>
            <a:srgbClr val="B7791F"/>
          </a:solidFill>
          <a:ln w="12700">
            <a:solidFill>
              <a:srgbClr val="B7791F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34" name="Text 32"/>
          <p:cNvSpPr txBox="1"/>
          <p:nvPr/>
        </p:nvSpPr>
        <p:spPr>
          <a:xfrm>
            <a:off x="841248" y="508406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300" dirty="0"/>
          </a:p>
        </p:txBody>
      </p:sp>
      <p:sp>
        <p:nvSpPr>
          <p:cNvPr id="35" name="Text 33"/>
          <p:cNvSpPr txBox="1"/>
          <p:nvPr/>
        </p:nvSpPr>
        <p:spPr>
          <a:xfrm>
            <a:off x="1389888" y="4983480"/>
            <a:ext cx="2880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envío por correo</a:t>
            </a:r>
            <a:endParaRPr lang="en-US" sz="1350" dirty="0"/>
          </a:p>
        </p:txBody>
      </p:sp>
      <p:sp>
        <p:nvSpPr>
          <p:cNvPr id="36" name="Text 34"/>
          <p:cNvSpPr txBox="1"/>
          <p:nvPr/>
        </p:nvSpPr>
        <p:spPr>
          <a:xfrm>
            <a:off x="1389888" y="5212080"/>
            <a:ext cx="5943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C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envío del informe por correo está previsto en el sistema, pero no está construido.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10058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B779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58368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Objetivo general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640080" y="1298448"/>
            <a:ext cx="10881360" cy="960120"/>
          </a:xfrm>
          <a:prstGeom prst="roundRect">
            <a:avLst>
              <a:gd name="adj" fmla="val 5714"/>
            </a:avLst>
          </a:prstGeom>
          <a:solidFill>
            <a:srgbClr val="141B45"/>
          </a:solidFill>
          <a:ln w="9525">
            <a:solidFill>
              <a:srgbClr val="141B45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5" name="Text 3"/>
          <p:cNvSpPr txBox="1"/>
          <p:nvPr/>
        </p:nvSpPr>
        <p:spPr>
          <a:xfrm>
            <a:off x="960120" y="1298448"/>
            <a:ext cx="102412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Completar el sistema existente Project Dossier, cerrando las brechas que hoy impiden su operación con clientes reales, para la empresa Alloxentric.</a:t>
            </a:r>
            <a:endParaRPr lang="en-US" sz="165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514600"/>
            <a:ext cx="10058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kern="0" spc="150" dirty="0">
                <a:solidFill>
                  <a:srgbClr val="B779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NUEVE OBJETIVOS ESPECÍFICOS, CADA UNO SOBRE EL ANTERIOR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640080" y="2880360"/>
            <a:ext cx="2606040" cy="2697480"/>
          </a:xfrm>
          <a:prstGeom prst="roundRect">
            <a:avLst>
              <a:gd name="adj" fmla="val 2105"/>
            </a:avLst>
          </a:prstGeom>
          <a:solidFill>
            <a:srgbClr val="141B45"/>
          </a:solidFill>
          <a:ln w="9525">
            <a:solidFill>
              <a:srgbClr val="2E3A70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8" name="Shape 6"/>
          <p:cNvSpPr/>
          <p:nvPr/>
        </p:nvSpPr>
        <p:spPr>
          <a:xfrm>
            <a:off x="896112" y="3127248"/>
            <a:ext cx="420624" cy="420624"/>
          </a:xfrm>
          <a:prstGeom prst="ellipse">
            <a:avLst/>
          </a:prstGeom>
          <a:solidFill>
            <a:srgbClr val="B7791F"/>
          </a:solidFill>
          <a:ln w="12700">
            <a:solidFill>
              <a:srgbClr val="B7791F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9" name="Text 7"/>
          <p:cNvSpPr txBox="1"/>
          <p:nvPr/>
        </p:nvSpPr>
        <p:spPr>
          <a:xfrm>
            <a:off x="896112" y="312724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1417320" y="3182112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B779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OE 1 · 2 · 3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896112" y="3675888"/>
            <a:ext cx="2148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Diagnosticar y consolidar</a:t>
            </a:r>
            <a:endParaRPr lang="en-US" dirty="0"/>
          </a:p>
        </p:txBody>
      </p:sp>
      <p:sp>
        <p:nvSpPr>
          <p:cNvPr id="12" name="Text 10"/>
          <p:cNvSpPr txBox="1"/>
          <p:nvPr/>
        </p:nvSpPr>
        <p:spPr>
          <a:xfrm>
            <a:off x="896112" y="4261104"/>
            <a:ext cx="21488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s-MX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Auditar el sistema, dejar el código en condiciones de trabajar sobre él y diseñar la solución.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3264408" y="4023360"/>
            <a:ext cx="1463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B779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2200" dirty="0"/>
          </a:p>
        </p:txBody>
      </p:sp>
      <p:sp>
        <p:nvSpPr>
          <p:cNvPr id="14" name="Shape 12"/>
          <p:cNvSpPr/>
          <p:nvPr/>
        </p:nvSpPr>
        <p:spPr>
          <a:xfrm>
            <a:off x="3383280" y="2880360"/>
            <a:ext cx="2606040" cy="2697480"/>
          </a:xfrm>
          <a:prstGeom prst="roundRect">
            <a:avLst>
              <a:gd name="adj" fmla="val 2105"/>
            </a:avLst>
          </a:prstGeom>
          <a:solidFill>
            <a:srgbClr val="141B45"/>
          </a:solidFill>
          <a:ln w="9525">
            <a:solidFill>
              <a:srgbClr val="2E3A70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15" name="Shape 13"/>
          <p:cNvSpPr/>
          <p:nvPr/>
        </p:nvSpPr>
        <p:spPr>
          <a:xfrm>
            <a:off x="3639312" y="3127248"/>
            <a:ext cx="420624" cy="420624"/>
          </a:xfrm>
          <a:prstGeom prst="ellipse">
            <a:avLst/>
          </a:prstGeom>
          <a:solidFill>
            <a:srgbClr val="B7791F"/>
          </a:solidFill>
          <a:ln w="12700">
            <a:solidFill>
              <a:srgbClr val="B7791F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16" name="Text 14"/>
          <p:cNvSpPr txBox="1"/>
          <p:nvPr/>
        </p:nvSpPr>
        <p:spPr>
          <a:xfrm>
            <a:off x="3639312" y="312724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4160520" y="3182112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B779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OE 4 · 5 · 6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3634740" y="3565787"/>
            <a:ext cx="2103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Construir</a:t>
            </a:r>
            <a:endParaRPr lang="en-US" dirty="0"/>
          </a:p>
        </p:txBody>
      </p:sp>
      <p:sp>
        <p:nvSpPr>
          <p:cNvPr id="19" name="Text 17"/>
          <p:cNvSpPr txBox="1"/>
          <p:nvPr/>
        </p:nvSpPr>
        <p:spPr>
          <a:xfrm>
            <a:off x="3639312" y="4261104"/>
            <a:ext cx="21488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s-MX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Registros de empresas europeas, búsqueda en prensa, informe estructurado y avance en tiempo real.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6007608" y="4023360"/>
            <a:ext cx="1463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B779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2200" dirty="0"/>
          </a:p>
        </p:txBody>
      </p:sp>
      <p:sp>
        <p:nvSpPr>
          <p:cNvPr id="21" name="Shape 19"/>
          <p:cNvSpPr/>
          <p:nvPr/>
        </p:nvSpPr>
        <p:spPr>
          <a:xfrm>
            <a:off x="6126480" y="2880360"/>
            <a:ext cx="2606040" cy="2697480"/>
          </a:xfrm>
          <a:prstGeom prst="roundRect">
            <a:avLst>
              <a:gd name="adj" fmla="val 2105"/>
            </a:avLst>
          </a:prstGeom>
          <a:solidFill>
            <a:srgbClr val="141B45"/>
          </a:solidFill>
          <a:ln w="9525">
            <a:solidFill>
              <a:srgbClr val="2E3A70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22" name="Shape 20"/>
          <p:cNvSpPr/>
          <p:nvPr/>
        </p:nvSpPr>
        <p:spPr>
          <a:xfrm>
            <a:off x="6382512" y="3127248"/>
            <a:ext cx="420624" cy="420624"/>
          </a:xfrm>
          <a:prstGeom prst="ellipse">
            <a:avLst/>
          </a:prstGeom>
          <a:solidFill>
            <a:srgbClr val="B7791F"/>
          </a:solidFill>
          <a:ln w="12700">
            <a:solidFill>
              <a:srgbClr val="B7791F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23" name="Text 21"/>
          <p:cNvSpPr txBox="1"/>
          <p:nvPr/>
        </p:nvSpPr>
        <p:spPr>
          <a:xfrm>
            <a:off x="6382512" y="312724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6903720" y="3182112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B779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OE 7 · 8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6382512" y="3584448"/>
            <a:ext cx="2103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Entregar y asegurar</a:t>
            </a:r>
            <a:endParaRPr lang="en-US" dirty="0"/>
          </a:p>
        </p:txBody>
      </p:sp>
      <p:sp>
        <p:nvSpPr>
          <p:cNvPr id="26" name="Text 24"/>
          <p:cNvSpPr txBox="1"/>
          <p:nvPr/>
        </p:nvSpPr>
        <p:spPr>
          <a:xfrm>
            <a:off x="6382512" y="4261104"/>
            <a:ext cx="21488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s-MX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Envío por correo, permisos por usuario, registro de quién consulta cada informe, y pruebas.</a:t>
            </a:r>
            <a:endParaRPr lang="en-US" sz="1400" dirty="0"/>
          </a:p>
        </p:txBody>
      </p:sp>
      <p:sp>
        <p:nvSpPr>
          <p:cNvPr id="27" name="Text 25"/>
          <p:cNvSpPr txBox="1"/>
          <p:nvPr/>
        </p:nvSpPr>
        <p:spPr>
          <a:xfrm>
            <a:off x="8750808" y="4023360"/>
            <a:ext cx="1463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B779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2200" dirty="0"/>
          </a:p>
        </p:txBody>
      </p:sp>
      <p:sp>
        <p:nvSpPr>
          <p:cNvPr id="28" name="Shape 26"/>
          <p:cNvSpPr/>
          <p:nvPr/>
        </p:nvSpPr>
        <p:spPr>
          <a:xfrm>
            <a:off x="8869680" y="2880360"/>
            <a:ext cx="2606040" cy="2697480"/>
          </a:xfrm>
          <a:prstGeom prst="roundRect">
            <a:avLst>
              <a:gd name="adj" fmla="val 2105"/>
            </a:avLst>
          </a:prstGeom>
          <a:solidFill>
            <a:srgbClr val="141B45"/>
          </a:solidFill>
          <a:ln w="9525">
            <a:solidFill>
              <a:srgbClr val="2E3A70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29" name="Shape 27"/>
          <p:cNvSpPr/>
          <p:nvPr/>
        </p:nvSpPr>
        <p:spPr>
          <a:xfrm>
            <a:off x="9125712" y="3127248"/>
            <a:ext cx="420624" cy="420624"/>
          </a:xfrm>
          <a:prstGeom prst="ellipse">
            <a:avLst/>
          </a:prstGeom>
          <a:solidFill>
            <a:srgbClr val="B7791F"/>
          </a:solidFill>
          <a:ln w="12700">
            <a:solidFill>
              <a:srgbClr val="B7791F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30" name="Text 28"/>
          <p:cNvSpPr txBox="1"/>
          <p:nvPr/>
        </p:nvSpPr>
        <p:spPr>
          <a:xfrm>
            <a:off x="9125712" y="312724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31" name="Text 29"/>
          <p:cNvSpPr txBox="1"/>
          <p:nvPr/>
        </p:nvSpPr>
        <p:spPr>
          <a:xfrm>
            <a:off x="9646920" y="3182112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B779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OE 9</a:t>
            </a:r>
            <a:endParaRPr lang="en-US" sz="1100" dirty="0"/>
          </a:p>
        </p:txBody>
      </p:sp>
      <p:sp>
        <p:nvSpPr>
          <p:cNvPr id="32" name="Text 30"/>
          <p:cNvSpPr txBox="1"/>
          <p:nvPr/>
        </p:nvSpPr>
        <p:spPr>
          <a:xfrm>
            <a:off x="9108730" y="3584448"/>
            <a:ext cx="2103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Documentar</a:t>
            </a:r>
            <a:endParaRPr lang="en-US" dirty="0"/>
          </a:p>
        </p:txBody>
      </p:sp>
      <p:sp>
        <p:nvSpPr>
          <p:cNvPr id="33" name="Text 31"/>
          <p:cNvSpPr txBox="1"/>
          <p:nvPr/>
        </p:nvSpPr>
        <p:spPr>
          <a:xfrm>
            <a:off x="9125712" y="4261104"/>
            <a:ext cx="21488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Documentación técnica y manual de usuario para Alloxentric.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10058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B779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METODOLOGÍA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58368"/>
            <a:ext cx="10881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Scrum: un ciclo de dos semanas, repetido ocho veces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1207008" y="1554480"/>
            <a:ext cx="1051560" cy="1051560"/>
          </a:xfrm>
          <a:prstGeom prst="ellipse">
            <a:avLst/>
          </a:prstGeom>
          <a:solidFill>
            <a:srgbClr val="F2F5FA"/>
          </a:solidFill>
          <a:ln w="15875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5" name="Text 3"/>
          <p:cNvSpPr txBox="1"/>
          <p:nvPr/>
        </p:nvSpPr>
        <p:spPr>
          <a:xfrm>
            <a:off x="1216522" y="1553080"/>
            <a:ext cx="1051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2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724912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Planificar</a:t>
            </a:r>
            <a:endParaRPr lang="en-US" sz="145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301752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5C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qué entra en el ciclo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2423160" y="1874520"/>
            <a:ext cx="822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B779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3429000" y="2724912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Construir</a:t>
            </a:r>
            <a:endParaRPr lang="en-US" sz="1450" dirty="0"/>
          </a:p>
        </p:txBody>
      </p:sp>
      <p:sp>
        <p:nvSpPr>
          <p:cNvPr id="12" name="Text 10"/>
          <p:cNvSpPr txBox="1"/>
          <p:nvPr/>
        </p:nvSpPr>
        <p:spPr>
          <a:xfrm>
            <a:off x="3429000" y="301752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5C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algo que se pueda mostrar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5212080" y="1874520"/>
            <a:ext cx="822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B779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6784848" y="1554480"/>
            <a:ext cx="1051560" cy="1051560"/>
          </a:xfrm>
          <a:prstGeom prst="ellipse">
            <a:avLst/>
          </a:prstGeom>
          <a:solidFill>
            <a:srgbClr val="F2F5FA"/>
          </a:solidFill>
          <a:ln w="15875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15" name="Text 13"/>
          <p:cNvSpPr txBox="1"/>
          <p:nvPr/>
        </p:nvSpPr>
        <p:spPr>
          <a:xfrm>
            <a:off x="6794362" y="1513332"/>
            <a:ext cx="1051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200" dirty="0"/>
          </a:p>
        </p:txBody>
      </p:sp>
      <p:sp>
        <p:nvSpPr>
          <p:cNvPr id="16" name="Text 14"/>
          <p:cNvSpPr txBox="1"/>
          <p:nvPr/>
        </p:nvSpPr>
        <p:spPr>
          <a:xfrm>
            <a:off x="6217920" y="2724912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Revisar</a:t>
            </a:r>
            <a:endParaRPr lang="en-US" sz="1450" dirty="0"/>
          </a:p>
        </p:txBody>
      </p:sp>
      <p:sp>
        <p:nvSpPr>
          <p:cNvPr id="17" name="Text 15"/>
          <p:cNvSpPr txBox="1"/>
          <p:nvPr/>
        </p:nvSpPr>
        <p:spPr>
          <a:xfrm>
            <a:off x="6217920" y="301752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5C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 el docente guía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8001000" y="1874520"/>
            <a:ext cx="822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B779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19" name="Shape 17"/>
          <p:cNvSpPr/>
          <p:nvPr/>
        </p:nvSpPr>
        <p:spPr>
          <a:xfrm>
            <a:off x="9573768" y="1554480"/>
            <a:ext cx="1051560" cy="1051560"/>
          </a:xfrm>
          <a:prstGeom prst="ellipse">
            <a:avLst/>
          </a:prstGeom>
          <a:solidFill>
            <a:srgbClr val="F2F5FA"/>
          </a:solidFill>
          <a:ln w="15875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20" name="Text 18"/>
          <p:cNvSpPr txBox="1"/>
          <p:nvPr/>
        </p:nvSpPr>
        <p:spPr>
          <a:xfrm>
            <a:off x="9583282" y="1534792"/>
            <a:ext cx="1051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200" dirty="0"/>
          </a:p>
        </p:txBody>
      </p:sp>
      <p:sp>
        <p:nvSpPr>
          <p:cNvPr id="21" name="Text 19"/>
          <p:cNvSpPr txBox="1"/>
          <p:nvPr/>
        </p:nvSpPr>
        <p:spPr>
          <a:xfrm>
            <a:off x="9006840" y="2724912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Ajustar</a:t>
            </a:r>
            <a:endParaRPr lang="en-US" sz="1450" dirty="0"/>
          </a:p>
        </p:txBody>
      </p:sp>
      <p:sp>
        <p:nvSpPr>
          <p:cNvPr id="22" name="Text 20"/>
          <p:cNvSpPr txBox="1"/>
          <p:nvPr/>
        </p:nvSpPr>
        <p:spPr>
          <a:xfrm>
            <a:off x="9006840" y="301752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5C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retrospectiva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10607040" y="1828800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B779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↻</a:t>
            </a:r>
            <a:endParaRPr lang="en-US" sz="2600" dirty="0"/>
          </a:p>
        </p:txBody>
      </p:sp>
      <p:sp>
        <p:nvSpPr>
          <p:cNvPr id="24" name="Text 22"/>
          <p:cNvSpPr txBox="1"/>
          <p:nvPr/>
        </p:nvSpPr>
        <p:spPr>
          <a:xfrm>
            <a:off x="10378440" y="2395728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B779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2 semanas</a:t>
            </a:r>
            <a:endParaRPr lang="en-US" sz="1000" dirty="0"/>
          </a:p>
        </p:txBody>
      </p:sp>
      <p:sp>
        <p:nvSpPr>
          <p:cNvPr id="25" name="Text 23"/>
          <p:cNvSpPr txBox="1"/>
          <p:nvPr/>
        </p:nvSpPr>
        <p:spPr>
          <a:xfrm>
            <a:off x="640080" y="365760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kern="0" spc="150" dirty="0">
                <a:solidFill>
                  <a:srgbClr val="B779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OCHO SPRINTS DEL SEMESTRE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640080" y="3977640"/>
            <a:ext cx="1243584" cy="1600200"/>
          </a:xfrm>
          <a:prstGeom prst="roundRect">
            <a:avLst>
              <a:gd name="adj" fmla="val 4412"/>
            </a:avLst>
          </a:prstGeom>
          <a:solidFill>
            <a:srgbClr val="1E2761"/>
          </a:solidFill>
          <a:ln w="9525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27" name="Text 25"/>
          <p:cNvSpPr txBox="1"/>
          <p:nvPr/>
        </p:nvSpPr>
        <p:spPr>
          <a:xfrm>
            <a:off x="640080" y="4087368"/>
            <a:ext cx="12435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S0</a:t>
            </a:r>
            <a:endParaRPr lang="en-US" sz="1800" dirty="0"/>
          </a:p>
        </p:txBody>
      </p:sp>
      <p:sp>
        <p:nvSpPr>
          <p:cNvPr id="28" name="Text 26"/>
          <p:cNvSpPr txBox="1"/>
          <p:nvPr/>
        </p:nvSpPr>
        <p:spPr>
          <a:xfrm>
            <a:off x="640080" y="4453128"/>
            <a:ext cx="12435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 1–4</a:t>
            </a:r>
            <a:endParaRPr lang="en-US" sz="1050" dirty="0"/>
          </a:p>
        </p:txBody>
      </p:sp>
      <p:sp>
        <p:nvSpPr>
          <p:cNvPr id="29" name="Text 27"/>
          <p:cNvSpPr txBox="1"/>
          <p:nvPr/>
        </p:nvSpPr>
        <p:spPr>
          <a:xfrm>
            <a:off x="704088" y="4754880"/>
            <a:ext cx="111556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Diagnóstico</a:t>
            </a:r>
            <a:endParaRPr lang="en-US" sz="950" dirty="0"/>
          </a:p>
          <a:p>
            <a:pPr marL="0" indent="0" algn="ctr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 diseño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1979676" y="3977640"/>
            <a:ext cx="1243584" cy="1600200"/>
          </a:xfrm>
          <a:prstGeom prst="roundRect">
            <a:avLst>
              <a:gd name="adj" fmla="val 4412"/>
            </a:avLst>
          </a:prstGeom>
          <a:solidFill>
            <a:srgbClr val="F2F5FA"/>
          </a:solidFill>
          <a:ln w="9525">
            <a:solidFill>
              <a:srgbClr val="D8DEE9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31" name="Text 29"/>
          <p:cNvSpPr txBox="1"/>
          <p:nvPr/>
        </p:nvSpPr>
        <p:spPr>
          <a:xfrm>
            <a:off x="1979676" y="4087368"/>
            <a:ext cx="12435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S1</a:t>
            </a:r>
            <a:endParaRPr lang="en-US" sz="1800" dirty="0"/>
          </a:p>
        </p:txBody>
      </p:sp>
      <p:sp>
        <p:nvSpPr>
          <p:cNvPr id="32" name="Text 30"/>
          <p:cNvSpPr txBox="1"/>
          <p:nvPr/>
        </p:nvSpPr>
        <p:spPr>
          <a:xfrm>
            <a:off x="1979676" y="4453128"/>
            <a:ext cx="12435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5C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 5–6</a:t>
            </a:r>
            <a:endParaRPr lang="en-US" sz="1050" dirty="0"/>
          </a:p>
        </p:txBody>
      </p:sp>
      <p:sp>
        <p:nvSpPr>
          <p:cNvPr id="33" name="Text 31"/>
          <p:cNvSpPr txBox="1"/>
          <p:nvPr/>
        </p:nvSpPr>
        <p:spPr>
          <a:xfrm>
            <a:off x="2043684" y="4754880"/>
            <a:ext cx="111556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1B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Consolidación</a:t>
            </a:r>
            <a:endParaRPr lang="en-US" sz="950" dirty="0"/>
          </a:p>
          <a:p>
            <a:pPr marL="0" indent="0" algn="ctr">
              <a:buNone/>
            </a:pPr>
            <a:r>
              <a:rPr lang="en-US" sz="950" dirty="0">
                <a:solidFill>
                  <a:srgbClr val="1B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técnica</a:t>
            </a:r>
            <a:endParaRPr lang="en-US" sz="950" dirty="0"/>
          </a:p>
        </p:txBody>
      </p:sp>
      <p:sp>
        <p:nvSpPr>
          <p:cNvPr id="34" name="Shape 32"/>
          <p:cNvSpPr/>
          <p:nvPr/>
        </p:nvSpPr>
        <p:spPr>
          <a:xfrm>
            <a:off x="3319272" y="3977640"/>
            <a:ext cx="1243584" cy="1600200"/>
          </a:xfrm>
          <a:prstGeom prst="roundRect">
            <a:avLst>
              <a:gd name="adj" fmla="val 4412"/>
            </a:avLst>
          </a:prstGeom>
          <a:solidFill>
            <a:srgbClr val="F2F5FA"/>
          </a:solidFill>
          <a:ln w="9525">
            <a:solidFill>
              <a:srgbClr val="D8DEE9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35" name="Text 33"/>
          <p:cNvSpPr txBox="1"/>
          <p:nvPr/>
        </p:nvSpPr>
        <p:spPr>
          <a:xfrm>
            <a:off x="3319272" y="4087368"/>
            <a:ext cx="12435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S2</a:t>
            </a:r>
            <a:endParaRPr lang="en-US" sz="1800" dirty="0"/>
          </a:p>
        </p:txBody>
      </p:sp>
      <p:sp>
        <p:nvSpPr>
          <p:cNvPr id="36" name="Text 34"/>
          <p:cNvSpPr txBox="1"/>
          <p:nvPr/>
        </p:nvSpPr>
        <p:spPr>
          <a:xfrm>
            <a:off x="3319272" y="4453128"/>
            <a:ext cx="12435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5C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 7–8</a:t>
            </a:r>
            <a:endParaRPr lang="en-US" sz="1050" dirty="0"/>
          </a:p>
        </p:txBody>
      </p:sp>
      <p:sp>
        <p:nvSpPr>
          <p:cNvPr id="37" name="Text 35"/>
          <p:cNvSpPr txBox="1"/>
          <p:nvPr/>
        </p:nvSpPr>
        <p:spPr>
          <a:xfrm>
            <a:off x="3383280" y="4754880"/>
            <a:ext cx="111556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1B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Registros</a:t>
            </a:r>
            <a:endParaRPr lang="en-US" sz="950" dirty="0"/>
          </a:p>
          <a:p>
            <a:pPr marL="0" indent="0" algn="ctr">
              <a:buNone/>
            </a:pPr>
            <a:r>
              <a:rPr lang="en-US" sz="950" dirty="0">
                <a:solidFill>
                  <a:srgbClr val="1B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europeos</a:t>
            </a:r>
            <a:endParaRPr lang="en-US" sz="950" dirty="0"/>
          </a:p>
        </p:txBody>
      </p:sp>
      <p:sp>
        <p:nvSpPr>
          <p:cNvPr id="38" name="Shape 36"/>
          <p:cNvSpPr/>
          <p:nvPr/>
        </p:nvSpPr>
        <p:spPr>
          <a:xfrm>
            <a:off x="4658868" y="3977640"/>
            <a:ext cx="1243584" cy="1600200"/>
          </a:xfrm>
          <a:prstGeom prst="roundRect">
            <a:avLst>
              <a:gd name="adj" fmla="val 4412"/>
            </a:avLst>
          </a:prstGeom>
          <a:solidFill>
            <a:srgbClr val="F2F5FA"/>
          </a:solidFill>
          <a:ln w="9525">
            <a:solidFill>
              <a:srgbClr val="D8DEE9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39" name="Text 37"/>
          <p:cNvSpPr txBox="1"/>
          <p:nvPr/>
        </p:nvSpPr>
        <p:spPr>
          <a:xfrm>
            <a:off x="4658868" y="4087368"/>
            <a:ext cx="12435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S3</a:t>
            </a:r>
            <a:endParaRPr lang="en-US" sz="1800" dirty="0"/>
          </a:p>
        </p:txBody>
      </p:sp>
      <p:sp>
        <p:nvSpPr>
          <p:cNvPr id="40" name="Text 38"/>
          <p:cNvSpPr txBox="1"/>
          <p:nvPr/>
        </p:nvSpPr>
        <p:spPr>
          <a:xfrm>
            <a:off x="4658868" y="4453128"/>
            <a:ext cx="12435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5C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 9–10</a:t>
            </a:r>
            <a:endParaRPr lang="en-US" sz="1050" dirty="0"/>
          </a:p>
        </p:txBody>
      </p:sp>
      <p:sp>
        <p:nvSpPr>
          <p:cNvPr id="41" name="Text 39"/>
          <p:cNvSpPr txBox="1"/>
          <p:nvPr/>
        </p:nvSpPr>
        <p:spPr>
          <a:xfrm>
            <a:off x="4722876" y="4754880"/>
            <a:ext cx="111556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1B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Noticias y dashboard</a:t>
            </a:r>
            <a:endParaRPr lang="en-US" sz="950" dirty="0"/>
          </a:p>
        </p:txBody>
      </p:sp>
      <p:sp>
        <p:nvSpPr>
          <p:cNvPr id="42" name="Shape 40"/>
          <p:cNvSpPr/>
          <p:nvPr/>
        </p:nvSpPr>
        <p:spPr>
          <a:xfrm>
            <a:off x="5998464" y="3977640"/>
            <a:ext cx="1243584" cy="1600200"/>
          </a:xfrm>
          <a:prstGeom prst="roundRect">
            <a:avLst>
              <a:gd name="adj" fmla="val 4412"/>
            </a:avLst>
          </a:prstGeom>
          <a:solidFill>
            <a:srgbClr val="F2F5FA"/>
          </a:solidFill>
          <a:ln w="9525">
            <a:solidFill>
              <a:srgbClr val="D8DEE9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43" name="Text 41"/>
          <p:cNvSpPr txBox="1"/>
          <p:nvPr/>
        </p:nvSpPr>
        <p:spPr>
          <a:xfrm>
            <a:off x="5998464" y="4087368"/>
            <a:ext cx="12435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S4</a:t>
            </a:r>
            <a:endParaRPr lang="en-US" sz="1800" dirty="0"/>
          </a:p>
        </p:txBody>
      </p:sp>
      <p:sp>
        <p:nvSpPr>
          <p:cNvPr id="44" name="Text 42"/>
          <p:cNvSpPr txBox="1"/>
          <p:nvPr/>
        </p:nvSpPr>
        <p:spPr>
          <a:xfrm>
            <a:off x="5998464" y="4453128"/>
            <a:ext cx="12435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5C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 11–12</a:t>
            </a:r>
            <a:endParaRPr lang="en-US" sz="1050" dirty="0"/>
          </a:p>
        </p:txBody>
      </p:sp>
      <p:sp>
        <p:nvSpPr>
          <p:cNvPr id="45" name="Text 43"/>
          <p:cNvSpPr txBox="1"/>
          <p:nvPr/>
        </p:nvSpPr>
        <p:spPr>
          <a:xfrm>
            <a:off x="6062472" y="4754880"/>
            <a:ext cx="111556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1B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Informe</a:t>
            </a:r>
            <a:endParaRPr lang="en-US" sz="950" dirty="0"/>
          </a:p>
          <a:p>
            <a:pPr marL="0" indent="0" algn="ctr">
              <a:buNone/>
            </a:pPr>
            <a:r>
              <a:rPr lang="en-US" sz="950" dirty="0">
                <a:solidFill>
                  <a:srgbClr val="1B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estructurado</a:t>
            </a:r>
            <a:endParaRPr lang="en-US" sz="950" dirty="0"/>
          </a:p>
        </p:txBody>
      </p:sp>
      <p:sp>
        <p:nvSpPr>
          <p:cNvPr id="46" name="Shape 44"/>
          <p:cNvSpPr/>
          <p:nvPr/>
        </p:nvSpPr>
        <p:spPr>
          <a:xfrm>
            <a:off x="7338060" y="3977640"/>
            <a:ext cx="1243584" cy="1600200"/>
          </a:xfrm>
          <a:prstGeom prst="roundRect">
            <a:avLst>
              <a:gd name="adj" fmla="val 4412"/>
            </a:avLst>
          </a:prstGeom>
          <a:solidFill>
            <a:srgbClr val="F2F5FA"/>
          </a:solidFill>
          <a:ln w="9525">
            <a:solidFill>
              <a:srgbClr val="D8DEE9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47" name="Text 45"/>
          <p:cNvSpPr txBox="1"/>
          <p:nvPr/>
        </p:nvSpPr>
        <p:spPr>
          <a:xfrm>
            <a:off x="7338060" y="4087368"/>
            <a:ext cx="12435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S5</a:t>
            </a:r>
            <a:endParaRPr lang="en-US" sz="1800" dirty="0"/>
          </a:p>
        </p:txBody>
      </p:sp>
      <p:sp>
        <p:nvSpPr>
          <p:cNvPr id="48" name="Text 46"/>
          <p:cNvSpPr txBox="1"/>
          <p:nvPr/>
        </p:nvSpPr>
        <p:spPr>
          <a:xfrm>
            <a:off x="7338060" y="4453128"/>
            <a:ext cx="12435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5C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 13–14</a:t>
            </a:r>
            <a:endParaRPr lang="en-US" sz="1050" dirty="0"/>
          </a:p>
        </p:txBody>
      </p:sp>
      <p:sp>
        <p:nvSpPr>
          <p:cNvPr id="49" name="Text 47"/>
          <p:cNvSpPr txBox="1"/>
          <p:nvPr/>
        </p:nvSpPr>
        <p:spPr>
          <a:xfrm>
            <a:off x="7402068" y="4754880"/>
            <a:ext cx="111556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1B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Tiempo real</a:t>
            </a:r>
            <a:endParaRPr lang="en-US" sz="950" dirty="0"/>
          </a:p>
          <a:p>
            <a:pPr marL="0" indent="0" algn="ctr">
              <a:buNone/>
            </a:pPr>
            <a:r>
              <a:rPr lang="en-US" sz="950" dirty="0">
                <a:solidFill>
                  <a:srgbClr val="1B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 correo</a:t>
            </a:r>
            <a:endParaRPr lang="en-US" sz="950" dirty="0"/>
          </a:p>
        </p:txBody>
      </p:sp>
      <p:sp>
        <p:nvSpPr>
          <p:cNvPr id="50" name="Shape 48"/>
          <p:cNvSpPr/>
          <p:nvPr/>
        </p:nvSpPr>
        <p:spPr>
          <a:xfrm>
            <a:off x="8677656" y="3977640"/>
            <a:ext cx="1243584" cy="1600200"/>
          </a:xfrm>
          <a:prstGeom prst="roundRect">
            <a:avLst>
              <a:gd name="adj" fmla="val 4412"/>
            </a:avLst>
          </a:prstGeom>
          <a:solidFill>
            <a:srgbClr val="F2F5FA"/>
          </a:solidFill>
          <a:ln w="9525">
            <a:solidFill>
              <a:srgbClr val="D8DEE9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51" name="Text 49"/>
          <p:cNvSpPr txBox="1"/>
          <p:nvPr/>
        </p:nvSpPr>
        <p:spPr>
          <a:xfrm>
            <a:off x="8677656" y="4087368"/>
            <a:ext cx="12435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S6</a:t>
            </a:r>
            <a:endParaRPr lang="en-US" sz="1800" dirty="0"/>
          </a:p>
        </p:txBody>
      </p:sp>
      <p:sp>
        <p:nvSpPr>
          <p:cNvPr id="52" name="Text 50"/>
          <p:cNvSpPr txBox="1"/>
          <p:nvPr/>
        </p:nvSpPr>
        <p:spPr>
          <a:xfrm>
            <a:off x="8677656" y="4453128"/>
            <a:ext cx="12435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5C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 15–16</a:t>
            </a:r>
            <a:endParaRPr lang="en-US" sz="1050" dirty="0"/>
          </a:p>
        </p:txBody>
      </p:sp>
      <p:sp>
        <p:nvSpPr>
          <p:cNvPr id="53" name="Text 51"/>
          <p:cNvSpPr txBox="1"/>
          <p:nvPr/>
        </p:nvSpPr>
        <p:spPr>
          <a:xfrm>
            <a:off x="8741664" y="4754880"/>
            <a:ext cx="111556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1B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Entrega y</a:t>
            </a:r>
            <a:endParaRPr lang="en-US" sz="950" dirty="0"/>
          </a:p>
          <a:p>
            <a:pPr marL="0" indent="0" algn="ctr">
              <a:buNone/>
            </a:pPr>
            <a:r>
              <a:rPr lang="en-US" sz="950" dirty="0">
                <a:solidFill>
                  <a:srgbClr val="1B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seguridad</a:t>
            </a:r>
            <a:endParaRPr lang="en-US" sz="950" dirty="0"/>
          </a:p>
        </p:txBody>
      </p:sp>
      <p:sp>
        <p:nvSpPr>
          <p:cNvPr id="54" name="Shape 52"/>
          <p:cNvSpPr/>
          <p:nvPr/>
        </p:nvSpPr>
        <p:spPr>
          <a:xfrm>
            <a:off x="10017252" y="3977640"/>
            <a:ext cx="1243584" cy="1600200"/>
          </a:xfrm>
          <a:prstGeom prst="roundRect">
            <a:avLst>
              <a:gd name="adj" fmla="val 4412"/>
            </a:avLst>
          </a:prstGeom>
          <a:solidFill>
            <a:srgbClr val="F2F5FA"/>
          </a:solidFill>
          <a:ln w="9525">
            <a:solidFill>
              <a:srgbClr val="D8DEE9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55" name="Text 53"/>
          <p:cNvSpPr txBox="1"/>
          <p:nvPr/>
        </p:nvSpPr>
        <p:spPr>
          <a:xfrm>
            <a:off x="10017252" y="4087368"/>
            <a:ext cx="12435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S7</a:t>
            </a:r>
            <a:endParaRPr lang="en-US" sz="1800" dirty="0"/>
          </a:p>
        </p:txBody>
      </p:sp>
      <p:sp>
        <p:nvSpPr>
          <p:cNvPr id="56" name="Text 54"/>
          <p:cNvSpPr txBox="1"/>
          <p:nvPr/>
        </p:nvSpPr>
        <p:spPr>
          <a:xfrm>
            <a:off x="10017252" y="4453128"/>
            <a:ext cx="12435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5C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 17–18</a:t>
            </a:r>
            <a:endParaRPr lang="en-US" sz="1050" dirty="0"/>
          </a:p>
        </p:txBody>
      </p:sp>
      <p:sp>
        <p:nvSpPr>
          <p:cNvPr id="57" name="Text 55"/>
          <p:cNvSpPr txBox="1"/>
          <p:nvPr/>
        </p:nvSpPr>
        <p:spPr>
          <a:xfrm>
            <a:off x="10081260" y="4754880"/>
            <a:ext cx="111556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1B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Validación</a:t>
            </a:r>
            <a:endParaRPr lang="en-US" sz="950" dirty="0"/>
          </a:p>
          <a:p>
            <a:pPr marL="0" indent="0" algn="ctr">
              <a:buNone/>
            </a:pPr>
            <a:r>
              <a:rPr lang="en-US" sz="950" dirty="0">
                <a:solidFill>
                  <a:srgbClr val="1B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 cierre</a:t>
            </a:r>
            <a:endParaRPr lang="en-US" sz="950" dirty="0"/>
          </a:p>
        </p:txBody>
      </p:sp>
      <p:sp>
        <p:nvSpPr>
          <p:cNvPr id="58" name="Shape 56"/>
          <p:cNvSpPr/>
          <p:nvPr/>
        </p:nvSpPr>
        <p:spPr>
          <a:xfrm>
            <a:off x="640080" y="5806440"/>
            <a:ext cx="2583180" cy="457200"/>
          </a:xfrm>
          <a:prstGeom prst="roundRect">
            <a:avLst>
              <a:gd name="adj" fmla="val 50000"/>
            </a:avLst>
          </a:prstGeom>
          <a:solidFill>
            <a:srgbClr val="FBF3E2"/>
          </a:solidFill>
          <a:ln w="12700">
            <a:solidFill>
              <a:srgbClr val="B7791F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59" name="Text 57"/>
          <p:cNvSpPr txBox="1"/>
          <p:nvPr/>
        </p:nvSpPr>
        <p:spPr>
          <a:xfrm>
            <a:off x="731520" y="5806440"/>
            <a:ext cx="24003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B779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 de versiones con Git</a:t>
            </a:r>
            <a:endParaRPr lang="en-US" sz="1100" dirty="0"/>
          </a:p>
        </p:txBody>
      </p:sp>
      <p:sp>
        <p:nvSpPr>
          <p:cNvPr id="60" name="Shape 58"/>
          <p:cNvSpPr/>
          <p:nvPr/>
        </p:nvSpPr>
        <p:spPr>
          <a:xfrm>
            <a:off x="3406140" y="5806440"/>
            <a:ext cx="2583180" cy="457200"/>
          </a:xfrm>
          <a:prstGeom prst="roundRect">
            <a:avLst>
              <a:gd name="adj" fmla="val 50000"/>
            </a:avLst>
          </a:prstGeom>
          <a:solidFill>
            <a:srgbClr val="FBF3E2"/>
          </a:solidFill>
          <a:ln w="12700">
            <a:solidFill>
              <a:srgbClr val="B7791F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61" name="Text 59"/>
          <p:cNvSpPr txBox="1"/>
          <p:nvPr/>
        </p:nvSpPr>
        <p:spPr>
          <a:xfrm>
            <a:off x="3497580" y="5806440"/>
            <a:ext cx="24003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B779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Revisión entre pares</a:t>
            </a:r>
            <a:endParaRPr lang="en-US" sz="1100" dirty="0"/>
          </a:p>
        </p:txBody>
      </p:sp>
      <p:sp>
        <p:nvSpPr>
          <p:cNvPr id="62" name="Shape 60"/>
          <p:cNvSpPr/>
          <p:nvPr/>
        </p:nvSpPr>
        <p:spPr>
          <a:xfrm>
            <a:off x="6172200" y="5806440"/>
            <a:ext cx="2583180" cy="457200"/>
          </a:xfrm>
          <a:prstGeom prst="roundRect">
            <a:avLst>
              <a:gd name="adj" fmla="val 50000"/>
            </a:avLst>
          </a:prstGeom>
          <a:solidFill>
            <a:srgbClr val="FBF3E2"/>
          </a:solidFill>
          <a:ln w="12700">
            <a:solidFill>
              <a:srgbClr val="B7791F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63" name="Text 61"/>
          <p:cNvSpPr txBox="1"/>
          <p:nvPr/>
        </p:nvSpPr>
        <p:spPr>
          <a:xfrm>
            <a:off x="6263640" y="5806440"/>
            <a:ext cx="24003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B779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Lista de tareas en Trello</a:t>
            </a:r>
            <a:endParaRPr lang="en-US" sz="1100" dirty="0"/>
          </a:p>
        </p:txBody>
      </p:sp>
      <p:sp>
        <p:nvSpPr>
          <p:cNvPr id="64" name="Shape 62"/>
          <p:cNvSpPr/>
          <p:nvPr/>
        </p:nvSpPr>
        <p:spPr>
          <a:xfrm>
            <a:off x="8938260" y="5806440"/>
            <a:ext cx="2583180" cy="457200"/>
          </a:xfrm>
          <a:prstGeom prst="roundRect">
            <a:avLst>
              <a:gd name="adj" fmla="val 50000"/>
            </a:avLst>
          </a:prstGeom>
          <a:solidFill>
            <a:srgbClr val="FBF3E2"/>
          </a:solidFill>
          <a:ln w="12700">
            <a:solidFill>
              <a:srgbClr val="B7791F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65" name="Text 63"/>
          <p:cNvSpPr txBox="1"/>
          <p:nvPr/>
        </p:nvSpPr>
        <p:spPr>
          <a:xfrm>
            <a:off x="9029700" y="5806440"/>
            <a:ext cx="24003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B779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Definición de Terminado</a:t>
            </a:r>
            <a:endParaRPr lang="en-US" sz="1100" dirty="0"/>
          </a:p>
        </p:txBody>
      </p:sp>
      <p:sp>
        <p:nvSpPr>
          <p:cNvPr id="71" name="Shape 12">
            <a:extLst>
              <a:ext uri="{FF2B5EF4-FFF2-40B4-BE49-F238E27FC236}">
                <a16:creationId xmlns:a16="http://schemas.microsoft.com/office/drawing/2014/main" id="{573BBD65-F49A-342A-C164-08B57BDD2D5A}"/>
              </a:ext>
            </a:extLst>
          </p:cNvPr>
          <p:cNvSpPr/>
          <p:nvPr/>
        </p:nvSpPr>
        <p:spPr>
          <a:xfrm>
            <a:off x="3963924" y="1548415"/>
            <a:ext cx="1051560" cy="1051560"/>
          </a:xfrm>
          <a:prstGeom prst="ellipse">
            <a:avLst/>
          </a:prstGeom>
          <a:solidFill>
            <a:srgbClr val="F2F5FA"/>
          </a:solidFill>
          <a:ln w="15875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73" name="Text 8">
            <a:extLst>
              <a:ext uri="{FF2B5EF4-FFF2-40B4-BE49-F238E27FC236}">
                <a16:creationId xmlns:a16="http://schemas.microsoft.com/office/drawing/2014/main" id="{5BE4ECC5-D66D-18B4-211B-B4F39FADBE2A}"/>
              </a:ext>
            </a:extLst>
          </p:cNvPr>
          <p:cNvSpPr txBox="1"/>
          <p:nvPr/>
        </p:nvSpPr>
        <p:spPr>
          <a:xfrm>
            <a:off x="3973438" y="1534792"/>
            <a:ext cx="1051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2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</a:rPr>
              <a:t>2</a:t>
            </a:r>
            <a:endParaRPr lang="en-US" sz="2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10058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B779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ALCANCE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58368"/>
            <a:ext cx="10881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Hasta dónde nos comprometemos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481328"/>
            <a:ext cx="5303520" cy="3977640"/>
          </a:xfrm>
          <a:prstGeom prst="roundRect">
            <a:avLst>
              <a:gd name="adj" fmla="val 1379"/>
            </a:avLst>
          </a:prstGeom>
          <a:solidFill>
            <a:srgbClr val="E7F2EC"/>
          </a:solidFill>
          <a:ln w="9525">
            <a:solidFill>
              <a:srgbClr val="2E7D5B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5" name="Text 3"/>
          <p:cNvSpPr txBox="1"/>
          <p:nvPr/>
        </p:nvSpPr>
        <p:spPr>
          <a:xfrm>
            <a:off x="914400" y="1691640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120" dirty="0">
                <a:solidFill>
                  <a:srgbClr val="2E7D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ALCANCE COMPROMETIDO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932688" y="2194560"/>
            <a:ext cx="182880" cy="182880"/>
          </a:xfrm>
          <a:prstGeom prst="ellipse">
            <a:avLst/>
          </a:prstGeom>
          <a:solidFill>
            <a:srgbClr val="2E7D5B"/>
          </a:solidFill>
          <a:ln w="12700">
            <a:solidFill>
              <a:srgbClr val="2E7D5B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7" name="Text 5"/>
          <p:cNvSpPr txBox="1"/>
          <p:nvPr/>
        </p:nvSpPr>
        <p:spPr>
          <a:xfrm>
            <a:off x="1261872" y="2121408"/>
            <a:ext cx="4480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B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Informe estructurado con datos verificables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932688" y="2706624"/>
            <a:ext cx="182880" cy="182880"/>
          </a:xfrm>
          <a:prstGeom prst="ellipse">
            <a:avLst/>
          </a:prstGeom>
          <a:solidFill>
            <a:srgbClr val="2E7D5B"/>
          </a:solidFill>
          <a:ln w="12700">
            <a:solidFill>
              <a:srgbClr val="2E7D5B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9" name="Text 7"/>
          <p:cNvSpPr txBox="1"/>
          <p:nvPr/>
        </p:nvSpPr>
        <p:spPr>
          <a:xfrm>
            <a:off x="1261872" y="2633472"/>
            <a:ext cx="4480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B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Registros corporativos europeos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932688" y="3218688"/>
            <a:ext cx="182880" cy="182880"/>
          </a:xfrm>
          <a:prstGeom prst="ellipse">
            <a:avLst/>
          </a:prstGeom>
          <a:solidFill>
            <a:srgbClr val="2E7D5B"/>
          </a:solidFill>
          <a:ln w="12700">
            <a:solidFill>
              <a:srgbClr val="2E7D5B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11" name="Text 9"/>
          <p:cNvSpPr txBox="1"/>
          <p:nvPr/>
        </p:nvSpPr>
        <p:spPr>
          <a:xfrm>
            <a:off x="1261872" y="3145536"/>
            <a:ext cx="4480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 err="1">
                <a:solidFill>
                  <a:srgbClr val="1B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Agente</a:t>
            </a:r>
            <a:r>
              <a:rPr lang="en-US" sz="1250" dirty="0">
                <a:solidFill>
                  <a:srgbClr val="1B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de </a:t>
            </a:r>
            <a:r>
              <a:rPr lang="en-US" sz="1250" dirty="0" err="1">
                <a:solidFill>
                  <a:srgbClr val="1B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noticias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932688" y="3730752"/>
            <a:ext cx="182880" cy="182880"/>
          </a:xfrm>
          <a:prstGeom prst="ellipse">
            <a:avLst/>
          </a:prstGeom>
          <a:solidFill>
            <a:srgbClr val="2E7D5B"/>
          </a:solidFill>
          <a:ln w="12700">
            <a:solidFill>
              <a:srgbClr val="2E7D5B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13" name="Text 11"/>
          <p:cNvSpPr txBox="1"/>
          <p:nvPr/>
        </p:nvSpPr>
        <p:spPr>
          <a:xfrm>
            <a:off x="1261872" y="3657600"/>
            <a:ext cx="4480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B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Avance en tiempo real </a:t>
            </a:r>
            <a:r>
              <a:rPr lang="en-US" sz="1250" dirty="0" err="1">
                <a:solidFill>
                  <a:srgbClr val="1B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</a:t>
            </a:r>
            <a:r>
              <a:rPr lang="en-US" sz="1250" dirty="0">
                <a:solidFill>
                  <a:srgbClr val="1B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el dashboard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932688" y="4242816"/>
            <a:ext cx="182880" cy="182880"/>
          </a:xfrm>
          <a:prstGeom prst="ellipse">
            <a:avLst/>
          </a:prstGeom>
          <a:solidFill>
            <a:srgbClr val="2E7D5B"/>
          </a:solidFill>
          <a:ln w="12700">
            <a:solidFill>
              <a:srgbClr val="2E7D5B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15" name="Text 13"/>
          <p:cNvSpPr txBox="1"/>
          <p:nvPr/>
        </p:nvSpPr>
        <p:spPr>
          <a:xfrm>
            <a:off x="1261872" y="4169664"/>
            <a:ext cx="4480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B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Entrega automática por correo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932688" y="4754880"/>
            <a:ext cx="182880" cy="182880"/>
          </a:xfrm>
          <a:prstGeom prst="ellipse">
            <a:avLst/>
          </a:prstGeom>
          <a:solidFill>
            <a:srgbClr val="2E7D5B"/>
          </a:solidFill>
          <a:ln w="12700">
            <a:solidFill>
              <a:srgbClr val="2E7D5B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17" name="Text 15"/>
          <p:cNvSpPr txBox="1"/>
          <p:nvPr/>
        </p:nvSpPr>
        <p:spPr>
          <a:xfrm>
            <a:off x="1261872" y="4681728"/>
            <a:ext cx="4480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B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 técnica saneada, seguridad y pruebas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6245352" y="1481328"/>
            <a:ext cx="5303520" cy="3977640"/>
          </a:xfrm>
          <a:prstGeom prst="roundRect">
            <a:avLst>
              <a:gd name="adj" fmla="val 1379"/>
            </a:avLst>
          </a:prstGeom>
          <a:solidFill>
            <a:srgbClr val="FBF3E2"/>
          </a:solidFill>
          <a:ln w="9525">
            <a:solidFill>
              <a:srgbClr val="B7791F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19" name="Text 17"/>
          <p:cNvSpPr txBox="1"/>
          <p:nvPr/>
        </p:nvSpPr>
        <p:spPr>
          <a:xfrm>
            <a:off x="6519672" y="1691640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120" dirty="0">
                <a:solidFill>
                  <a:srgbClr val="B779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EXTENSIONES CONDICIONADAS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6537960" y="2194560"/>
            <a:ext cx="182880" cy="18288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B7791F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21" name="Text 19"/>
          <p:cNvSpPr txBox="1"/>
          <p:nvPr/>
        </p:nvSpPr>
        <p:spPr>
          <a:xfrm>
            <a:off x="6867144" y="2121408"/>
            <a:ext cx="4480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B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Integración de pagos en ambiente de pruebas</a:t>
            </a:r>
            <a:endParaRPr lang="en-US" sz="1250" dirty="0"/>
          </a:p>
        </p:txBody>
      </p:sp>
      <p:sp>
        <p:nvSpPr>
          <p:cNvPr id="24" name="Shape 22"/>
          <p:cNvSpPr/>
          <p:nvPr/>
        </p:nvSpPr>
        <p:spPr>
          <a:xfrm>
            <a:off x="6524337" y="2868603"/>
            <a:ext cx="182880" cy="18288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B7791F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25" name="Text 23"/>
          <p:cNvSpPr txBox="1"/>
          <p:nvPr/>
        </p:nvSpPr>
        <p:spPr>
          <a:xfrm>
            <a:off x="6887764" y="2799930"/>
            <a:ext cx="4480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B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Personalización visual por cliente</a:t>
            </a:r>
            <a:endParaRPr lang="en-US" sz="1250" dirty="0"/>
          </a:p>
        </p:txBody>
      </p:sp>
      <p:sp>
        <p:nvSpPr>
          <p:cNvPr id="26" name="Shape 24"/>
          <p:cNvSpPr/>
          <p:nvPr/>
        </p:nvSpPr>
        <p:spPr>
          <a:xfrm>
            <a:off x="6537960" y="3494408"/>
            <a:ext cx="182880" cy="18288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B7791F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27" name="Text 25"/>
          <p:cNvSpPr txBox="1"/>
          <p:nvPr/>
        </p:nvSpPr>
        <p:spPr>
          <a:xfrm>
            <a:off x="6867144" y="3428160"/>
            <a:ext cx="4480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B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pública para clientes</a:t>
            </a:r>
            <a:endParaRPr lang="en-US" sz="1250" dirty="0"/>
          </a:p>
        </p:txBody>
      </p:sp>
      <p:sp>
        <p:nvSpPr>
          <p:cNvPr id="28" name="Text 26"/>
          <p:cNvSpPr txBox="1"/>
          <p:nvPr/>
        </p:nvSpPr>
        <p:spPr>
          <a:xfrm>
            <a:off x="6537960" y="4023360"/>
            <a:ext cx="4754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i="1" dirty="0">
                <a:solidFill>
                  <a:schemeClr val="tx1">
                    <a:lumMod val="65000"/>
                    <a:lumOff val="35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abordan solo si el alcance comprometido está cerrado al término del Sprint 5. En caso contrario se documentan como trabajo futuro, con su estimación.</a:t>
            </a:r>
            <a:endParaRPr lang="en-US" sz="1600" b="1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29" name="Shape 27"/>
          <p:cNvSpPr/>
          <p:nvPr/>
        </p:nvSpPr>
        <p:spPr>
          <a:xfrm>
            <a:off x="640080" y="5623560"/>
            <a:ext cx="10881360" cy="777240"/>
          </a:xfrm>
          <a:prstGeom prst="roundRect">
            <a:avLst>
              <a:gd name="adj" fmla="val 7059"/>
            </a:avLst>
          </a:prstGeom>
          <a:solidFill>
            <a:srgbClr val="1E2761"/>
          </a:solidFill>
          <a:ln w="9525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30" name="Text 28"/>
          <p:cNvSpPr txBox="1"/>
          <p:nvPr/>
        </p:nvSpPr>
        <p:spPr>
          <a:xfrm>
            <a:off x="932688" y="5623560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distinción no es una precaución formal: quedan 12 semanas efectivas de construcción y el diagnóstico estima 12. El control del alcance es la condición de viabilidad.</a:t>
            </a:r>
            <a:endParaRPr lang="en-US" sz="12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10058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B779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PERTINENCIA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58368"/>
            <a:ext cx="10881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Competencias del perfil de egreso que exige el proyecto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481328"/>
            <a:ext cx="5303520" cy="1389888"/>
          </a:xfrm>
          <a:prstGeom prst="roundRect">
            <a:avLst>
              <a:gd name="adj" fmla="val 3947"/>
            </a:avLst>
          </a:prstGeom>
          <a:solidFill>
            <a:srgbClr val="FFFFFF"/>
          </a:solidFill>
          <a:ln w="9525">
            <a:solidFill>
              <a:srgbClr val="D8DEE9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5" name="Shape 3"/>
          <p:cNvSpPr/>
          <p:nvPr/>
        </p:nvSpPr>
        <p:spPr>
          <a:xfrm>
            <a:off x="896112" y="1719072"/>
            <a:ext cx="420624" cy="420624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6" name="Text 4"/>
          <p:cNvSpPr txBox="1"/>
          <p:nvPr/>
        </p:nvSpPr>
        <p:spPr>
          <a:xfrm>
            <a:off x="896112" y="171907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1426464" y="1682496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Gestión de proyectos informáticos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4864608" y="1719072"/>
            <a:ext cx="914400" cy="310896"/>
          </a:xfrm>
          <a:prstGeom prst="roundRect">
            <a:avLst>
              <a:gd name="adj" fmla="val 50000"/>
            </a:avLst>
          </a:prstGeom>
          <a:solidFill>
            <a:srgbClr val="F2F5FA"/>
          </a:solidFill>
          <a:ln w="12700">
            <a:solidFill>
              <a:srgbClr val="F2F5FA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9" name="Text 7"/>
          <p:cNvSpPr txBox="1"/>
          <p:nvPr/>
        </p:nvSpPr>
        <p:spPr>
          <a:xfrm>
            <a:off x="4864608" y="1719072"/>
            <a:ext cx="914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OE 1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1426464" y="2029968"/>
            <a:ext cx="4297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C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 brechas se convierten en un backlog con prioridad, dependencias, responsables e hitos.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172200" y="1481328"/>
            <a:ext cx="5303520" cy="1389888"/>
          </a:xfrm>
          <a:prstGeom prst="roundRect">
            <a:avLst>
              <a:gd name="adj" fmla="val 3947"/>
            </a:avLst>
          </a:prstGeom>
          <a:solidFill>
            <a:srgbClr val="FFFFFF"/>
          </a:solidFill>
          <a:ln w="9525">
            <a:solidFill>
              <a:srgbClr val="D8DEE9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12" name="Shape 10"/>
          <p:cNvSpPr/>
          <p:nvPr/>
        </p:nvSpPr>
        <p:spPr>
          <a:xfrm>
            <a:off x="6428232" y="1719072"/>
            <a:ext cx="420624" cy="420624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13" name="Text 11"/>
          <p:cNvSpPr txBox="1"/>
          <p:nvPr/>
        </p:nvSpPr>
        <p:spPr>
          <a:xfrm>
            <a:off x="6428232" y="171907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6958584" y="1682496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Construcción de modelos de datos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10396728" y="1719072"/>
            <a:ext cx="914400" cy="310896"/>
          </a:xfrm>
          <a:prstGeom prst="roundRect">
            <a:avLst>
              <a:gd name="adj" fmla="val 50000"/>
            </a:avLst>
          </a:prstGeom>
          <a:solidFill>
            <a:srgbClr val="F2F5FA"/>
          </a:solidFill>
          <a:ln w="12700">
            <a:solidFill>
              <a:srgbClr val="F2F5FA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16" name="Text 14"/>
          <p:cNvSpPr txBox="1"/>
          <p:nvPr/>
        </p:nvSpPr>
        <p:spPr>
          <a:xfrm>
            <a:off x="10396728" y="1719072"/>
            <a:ext cx="914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OE 3 · 5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6958584" y="2029968"/>
            <a:ext cx="4297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C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Estructuras para alertas, trayectoria, registros de empresas y prensa, con trazabilidad de cada fuente.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640080" y="3054096"/>
            <a:ext cx="5303520" cy="1389888"/>
          </a:xfrm>
          <a:prstGeom prst="roundRect">
            <a:avLst>
              <a:gd name="adj" fmla="val 3947"/>
            </a:avLst>
          </a:prstGeom>
          <a:solidFill>
            <a:srgbClr val="FFFFFF"/>
          </a:solidFill>
          <a:ln w="9525">
            <a:solidFill>
              <a:srgbClr val="D8DEE9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19" name="Shape 17"/>
          <p:cNvSpPr/>
          <p:nvPr/>
        </p:nvSpPr>
        <p:spPr>
          <a:xfrm>
            <a:off x="896112" y="3291840"/>
            <a:ext cx="420624" cy="420624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20" name="Text 18"/>
          <p:cNvSpPr txBox="1"/>
          <p:nvPr/>
        </p:nvSpPr>
        <p:spPr>
          <a:xfrm>
            <a:off x="896112" y="329184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1426464" y="3255264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Desarrollo e integración de sistemas</a:t>
            </a:r>
            <a:endParaRPr lang="en-US" sz="1350" dirty="0"/>
          </a:p>
        </p:txBody>
      </p:sp>
      <p:sp>
        <p:nvSpPr>
          <p:cNvPr id="22" name="Shape 20"/>
          <p:cNvSpPr/>
          <p:nvPr/>
        </p:nvSpPr>
        <p:spPr>
          <a:xfrm>
            <a:off x="4864608" y="3291840"/>
            <a:ext cx="914400" cy="310896"/>
          </a:xfrm>
          <a:prstGeom prst="roundRect">
            <a:avLst>
              <a:gd name="adj" fmla="val 50000"/>
            </a:avLst>
          </a:prstGeom>
          <a:solidFill>
            <a:srgbClr val="F2F5FA"/>
          </a:solidFill>
          <a:ln w="12700">
            <a:solidFill>
              <a:srgbClr val="F2F5FA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23" name="Text 21"/>
          <p:cNvSpPr txBox="1"/>
          <p:nvPr/>
        </p:nvSpPr>
        <p:spPr>
          <a:xfrm>
            <a:off x="4864608" y="3291840"/>
            <a:ext cx="914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OE 4 · 5 · 6 · 7</a:t>
            </a:r>
            <a:endParaRPr lang="en-US" sz="1100" dirty="0"/>
          </a:p>
        </p:txBody>
      </p:sp>
      <p:sp>
        <p:nvSpPr>
          <p:cNvPr id="24" name="Text 22"/>
          <p:cNvSpPr txBox="1"/>
          <p:nvPr/>
        </p:nvSpPr>
        <p:spPr>
          <a:xfrm>
            <a:off x="1426464" y="3602736"/>
            <a:ext cx="4297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C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Cambios </a:t>
            </a:r>
            <a:r>
              <a:rPr lang="en-US" sz="1100" dirty="0" err="1">
                <a:solidFill>
                  <a:srgbClr val="5C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</a:t>
            </a:r>
            <a:r>
              <a:rPr lang="en-US" sz="1100" dirty="0">
                <a:solidFill>
                  <a:srgbClr val="5C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frontend, el backend, </a:t>
            </a:r>
            <a:r>
              <a:rPr lang="en-US" sz="1100" dirty="0" err="1">
                <a:solidFill>
                  <a:srgbClr val="5C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agentes</a:t>
            </a:r>
            <a:r>
              <a:rPr lang="en-US" sz="1100" dirty="0">
                <a:solidFill>
                  <a:srgbClr val="5C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y los servicios externos, sobre una base heredada.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6172200" y="3054096"/>
            <a:ext cx="5303520" cy="1389888"/>
          </a:xfrm>
          <a:prstGeom prst="roundRect">
            <a:avLst>
              <a:gd name="adj" fmla="val 3947"/>
            </a:avLst>
          </a:prstGeom>
          <a:solidFill>
            <a:srgbClr val="FFFFFF"/>
          </a:solidFill>
          <a:ln w="9525">
            <a:solidFill>
              <a:srgbClr val="D8DEE9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26" name="Shape 24"/>
          <p:cNvSpPr/>
          <p:nvPr/>
        </p:nvSpPr>
        <p:spPr>
          <a:xfrm>
            <a:off x="6428232" y="3291840"/>
            <a:ext cx="420624" cy="420624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27" name="Text 25"/>
          <p:cNvSpPr txBox="1"/>
          <p:nvPr/>
        </p:nvSpPr>
        <p:spPr>
          <a:xfrm>
            <a:off x="6428232" y="329184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28" name="Text 26"/>
          <p:cNvSpPr txBox="1"/>
          <p:nvPr/>
        </p:nvSpPr>
        <p:spPr>
          <a:xfrm>
            <a:off x="6958584" y="3255264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Pruebas de validación</a:t>
            </a:r>
            <a:endParaRPr lang="en-US" sz="1350" dirty="0"/>
          </a:p>
        </p:txBody>
      </p:sp>
      <p:sp>
        <p:nvSpPr>
          <p:cNvPr id="29" name="Shape 27"/>
          <p:cNvSpPr/>
          <p:nvPr/>
        </p:nvSpPr>
        <p:spPr>
          <a:xfrm>
            <a:off x="10396728" y="3291840"/>
            <a:ext cx="914400" cy="310896"/>
          </a:xfrm>
          <a:prstGeom prst="roundRect">
            <a:avLst>
              <a:gd name="adj" fmla="val 50000"/>
            </a:avLst>
          </a:prstGeom>
          <a:solidFill>
            <a:srgbClr val="F2F5FA"/>
          </a:solidFill>
          <a:ln w="12700">
            <a:solidFill>
              <a:srgbClr val="F2F5FA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30" name="Text 28"/>
          <p:cNvSpPr txBox="1"/>
          <p:nvPr/>
        </p:nvSpPr>
        <p:spPr>
          <a:xfrm>
            <a:off x="10396728" y="3291840"/>
            <a:ext cx="914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OE 2 · 8</a:t>
            </a:r>
            <a:endParaRPr lang="en-US" sz="1100" dirty="0"/>
          </a:p>
        </p:txBody>
      </p:sp>
      <p:sp>
        <p:nvSpPr>
          <p:cNvPr id="31" name="Text 29"/>
          <p:cNvSpPr txBox="1"/>
          <p:nvPr/>
        </p:nvSpPr>
        <p:spPr>
          <a:xfrm>
            <a:off x="6958584" y="3602736"/>
            <a:ext cx="4297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C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Inicio de sesión, separación de datos entre empresas, créditos, fuentes y fallos de </a:t>
            </a:r>
            <a:r>
              <a:rPr lang="en-US" sz="1100" dirty="0" err="1">
                <a:solidFill>
                  <a:srgbClr val="5C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</a:t>
            </a:r>
            <a:r>
              <a:rPr lang="en-US" sz="1100" dirty="0">
                <a:solidFill>
                  <a:srgbClr val="5C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00" dirty="0" err="1">
                <a:solidFill>
                  <a:srgbClr val="5C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agentes</a:t>
            </a:r>
            <a:r>
              <a:rPr lang="en-US" sz="1100" dirty="0">
                <a:solidFill>
                  <a:srgbClr val="5C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640080" y="4709160"/>
            <a:ext cx="10881360" cy="1463040"/>
          </a:xfrm>
          <a:prstGeom prst="roundRect">
            <a:avLst>
              <a:gd name="adj" fmla="val 3750"/>
            </a:avLst>
          </a:prstGeom>
          <a:solidFill>
            <a:srgbClr val="F2F5FA"/>
          </a:solidFill>
          <a:ln w="9525">
            <a:solidFill>
              <a:srgbClr val="D8DEE9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33" name="Text 31"/>
          <p:cNvSpPr txBox="1"/>
          <p:nvPr/>
        </p:nvSpPr>
        <p:spPr>
          <a:xfrm>
            <a:off x="932688" y="486460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kern="0" spc="150" dirty="0">
                <a:solidFill>
                  <a:srgbClr val="B779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QUÉ ESTE PROYECTO</a:t>
            </a:r>
            <a:endParaRPr lang="en-US" sz="1050" dirty="0"/>
          </a:p>
        </p:txBody>
      </p:sp>
      <p:sp>
        <p:nvSpPr>
          <p:cNvPr id="34" name="Text 32"/>
          <p:cNvSpPr txBox="1"/>
          <p:nvPr/>
        </p:nvSpPr>
        <p:spPr>
          <a:xfrm>
            <a:off x="932688" y="5138928"/>
            <a:ext cx="10287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B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Continuar un sistema construido por otro equipo obliga a comprender código heredado, detectar diferencias entre la documentación y la implementación, priorizar deuda técnica y corregir riesgos sin romper lo que funciona. Es la situación más frecuente en el ejercicio profesional y la menos frecuente en un proyecto académico.</a:t>
            </a:r>
            <a:endParaRPr lang="en-US" sz="12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10058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B779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FACTIBILIDAD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58368"/>
            <a:ext cx="10881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 posible, y por eso el alcance está acotado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481328"/>
            <a:ext cx="3291840" cy="1371600"/>
          </a:xfrm>
          <a:prstGeom prst="roundRect">
            <a:avLst>
              <a:gd name="adj" fmla="val 4000"/>
            </a:avLst>
          </a:prstGeom>
          <a:solidFill>
            <a:srgbClr val="1E2761"/>
          </a:solidFill>
          <a:ln w="9525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5" name="Text 3"/>
          <p:cNvSpPr txBox="1"/>
          <p:nvPr/>
        </p:nvSpPr>
        <p:spPr>
          <a:xfrm>
            <a:off x="640080" y="1600200"/>
            <a:ext cx="32918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12</a:t>
            </a:r>
            <a:endParaRPr lang="en-US" sz="40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28600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semanas efectivas de construcción</a:t>
            </a:r>
            <a:endParaRPr lang="en-US" sz="115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3035808"/>
            <a:ext cx="3291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B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18 semanas, cuatro son de definición y dos de cierre. El diagnóstico estima 12 de trabajo: holgura nula.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4114800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kern="0" spc="150" dirty="0">
                <a:solidFill>
                  <a:srgbClr val="B779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RECURSOS</a:t>
            </a:r>
            <a:endParaRPr lang="en-US" sz="1050" dirty="0"/>
          </a:p>
        </p:txBody>
      </p:sp>
      <p:sp>
        <p:nvSpPr>
          <p:cNvPr id="9" name="Text 7"/>
          <p:cNvSpPr txBox="1"/>
          <p:nvPr/>
        </p:nvSpPr>
        <p:spPr>
          <a:xfrm>
            <a:off x="640080" y="4389120"/>
            <a:ext cx="32918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5C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Repositorio de código · base de datos y caché · servidor de pruebas · cuentas de Google y Microsoft · proveedor de correo · claves de acceso a los servicios externos y al modelo de lenguaje.</a:t>
            </a:r>
            <a:endParaRPr lang="en-US" sz="1150" dirty="0"/>
          </a:p>
        </p:txBody>
      </p:sp>
      <p:sp>
        <p:nvSpPr>
          <p:cNvPr id="10" name="Text 8"/>
          <p:cNvSpPr txBox="1"/>
          <p:nvPr/>
        </p:nvSpPr>
        <p:spPr>
          <a:xfrm>
            <a:off x="4206240" y="1481328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kern="0" spc="150" dirty="0">
                <a:solidFill>
                  <a:srgbClr val="B779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RIESGOS Y CÓMO SE MITIGAN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4206240" y="1810512"/>
            <a:ext cx="7342632" cy="804672"/>
          </a:xfrm>
          <a:prstGeom prst="roundRect">
            <a:avLst>
              <a:gd name="adj" fmla="val 6818"/>
            </a:avLst>
          </a:prstGeom>
          <a:solidFill>
            <a:srgbClr val="F2F5FA"/>
          </a:solidFill>
          <a:ln w="9525">
            <a:solidFill>
              <a:srgbClr val="D8DEE9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12" name="Shape 10"/>
          <p:cNvSpPr/>
          <p:nvPr/>
        </p:nvSpPr>
        <p:spPr>
          <a:xfrm>
            <a:off x="4407408" y="2121408"/>
            <a:ext cx="182880" cy="182880"/>
          </a:xfrm>
          <a:prstGeom prst="ellipse">
            <a:avLst/>
          </a:prstGeom>
          <a:solidFill>
            <a:srgbClr val="B7791F"/>
          </a:solidFill>
          <a:ln w="12700">
            <a:solidFill>
              <a:srgbClr val="B7791F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13" name="Text 11"/>
          <p:cNvSpPr txBox="1"/>
          <p:nvPr/>
        </p:nvSpPr>
        <p:spPr>
          <a:xfrm>
            <a:off x="4718304" y="1892808"/>
            <a:ext cx="3200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Servicios externos con precios y límites cambiantes</a:t>
            </a:r>
            <a:endParaRPr lang="en-US" sz="1150" dirty="0"/>
          </a:p>
        </p:txBody>
      </p:sp>
      <p:sp>
        <p:nvSpPr>
          <p:cNvPr id="14" name="Text 12"/>
          <p:cNvSpPr txBox="1"/>
          <p:nvPr/>
        </p:nvSpPr>
        <p:spPr>
          <a:xfrm>
            <a:off x="8046720" y="1892808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C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Evaluar proveedores en el Sprint 0; limitar el consumo.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206240" y="2706624"/>
            <a:ext cx="7342632" cy="804672"/>
          </a:xfrm>
          <a:prstGeom prst="roundRect">
            <a:avLst>
              <a:gd name="adj" fmla="val 6818"/>
            </a:avLst>
          </a:prstGeom>
          <a:solidFill>
            <a:srgbClr val="FFFFFF"/>
          </a:solidFill>
          <a:ln w="9525">
            <a:solidFill>
              <a:srgbClr val="D8DEE9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16" name="Shape 14"/>
          <p:cNvSpPr/>
          <p:nvPr/>
        </p:nvSpPr>
        <p:spPr>
          <a:xfrm>
            <a:off x="4407408" y="3017520"/>
            <a:ext cx="182880" cy="182880"/>
          </a:xfrm>
          <a:prstGeom prst="ellipse">
            <a:avLst/>
          </a:prstGeom>
          <a:solidFill>
            <a:srgbClr val="B7791F"/>
          </a:solidFill>
          <a:ln w="12700">
            <a:solidFill>
              <a:srgbClr val="B7791F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17" name="Text 15"/>
          <p:cNvSpPr txBox="1"/>
          <p:nvPr/>
        </p:nvSpPr>
        <p:spPr>
          <a:xfrm>
            <a:off x="4718304" y="2788920"/>
            <a:ext cx="3200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Fuentes con personas homónimas o datos incompletos</a:t>
            </a:r>
            <a:endParaRPr lang="en-US" sz="1150" dirty="0"/>
          </a:p>
        </p:txBody>
      </p:sp>
      <p:sp>
        <p:nvSpPr>
          <p:cNvPr id="18" name="Text 16"/>
          <p:cNvSpPr txBox="1"/>
          <p:nvPr/>
        </p:nvSpPr>
        <p:spPr>
          <a:xfrm>
            <a:off x="8046720" y="2788920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C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Verificar la estructura y los enlaces; declarar el dato ausente.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4206240" y="3602736"/>
            <a:ext cx="7342632" cy="804672"/>
          </a:xfrm>
          <a:prstGeom prst="roundRect">
            <a:avLst>
              <a:gd name="adj" fmla="val 6818"/>
            </a:avLst>
          </a:prstGeom>
          <a:solidFill>
            <a:srgbClr val="F2F5FA"/>
          </a:solidFill>
          <a:ln w="9525">
            <a:solidFill>
              <a:srgbClr val="D8DEE9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20" name="Shape 18"/>
          <p:cNvSpPr/>
          <p:nvPr/>
        </p:nvSpPr>
        <p:spPr>
          <a:xfrm>
            <a:off x="4407408" y="3913632"/>
            <a:ext cx="182880" cy="182880"/>
          </a:xfrm>
          <a:prstGeom prst="ellipse">
            <a:avLst/>
          </a:prstGeom>
          <a:solidFill>
            <a:srgbClr val="B7791F"/>
          </a:solidFill>
          <a:ln w="12700">
            <a:solidFill>
              <a:srgbClr val="B7791F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21" name="Text 19"/>
          <p:cNvSpPr txBox="1"/>
          <p:nvPr/>
        </p:nvSpPr>
        <p:spPr>
          <a:xfrm>
            <a:off x="4718304" y="3685032"/>
            <a:ext cx="3200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inteligencia artificial afirma cosas incorrectas</a:t>
            </a:r>
            <a:endParaRPr lang="en-US" sz="1150" dirty="0"/>
          </a:p>
        </p:txBody>
      </p:sp>
      <p:sp>
        <p:nvSpPr>
          <p:cNvPr id="22" name="Text 20"/>
          <p:cNvSpPr txBox="1"/>
          <p:nvPr/>
        </p:nvSpPr>
        <p:spPr>
          <a:xfrm>
            <a:off x="8046720" y="3685032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C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Casos de prueba y obligación de citar la fuente.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4206240" y="4498848"/>
            <a:ext cx="7342632" cy="804672"/>
          </a:xfrm>
          <a:prstGeom prst="roundRect">
            <a:avLst>
              <a:gd name="adj" fmla="val 6818"/>
            </a:avLst>
          </a:prstGeom>
          <a:solidFill>
            <a:srgbClr val="FFFFFF"/>
          </a:solidFill>
          <a:ln w="9525">
            <a:solidFill>
              <a:srgbClr val="D8DEE9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24" name="Shape 22"/>
          <p:cNvSpPr/>
          <p:nvPr/>
        </p:nvSpPr>
        <p:spPr>
          <a:xfrm>
            <a:off x="4407408" y="4809744"/>
            <a:ext cx="182880" cy="182880"/>
          </a:xfrm>
          <a:prstGeom prst="ellipse">
            <a:avLst/>
          </a:prstGeom>
          <a:solidFill>
            <a:srgbClr val="B7791F"/>
          </a:solidFill>
          <a:ln w="12700">
            <a:solidFill>
              <a:srgbClr val="B7791F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25" name="Text 23"/>
          <p:cNvSpPr txBox="1"/>
          <p:nvPr/>
        </p:nvSpPr>
        <p:spPr>
          <a:xfrm>
            <a:off x="4718304" y="4581144"/>
            <a:ext cx="3200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Privacidad y acceso a credenciales</a:t>
            </a:r>
            <a:endParaRPr lang="en-US" sz="1150" dirty="0"/>
          </a:p>
        </p:txBody>
      </p:sp>
      <p:sp>
        <p:nvSpPr>
          <p:cNvPr id="26" name="Text 24"/>
          <p:cNvSpPr txBox="1"/>
          <p:nvPr/>
        </p:nvSpPr>
        <p:spPr>
          <a:xfrm>
            <a:off x="8046720" y="4581144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C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Seguridad primero; ambientes de prueba.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4206240" y="5394960"/>
            <a:ext cx="7342632" cy="804672"/>
          </a:xfrm>
          <a:prstGeom prst="roundRect">
            <a:avLst>
              <a:gd name="adj" fmla="val 6818"/>
            </a:avLst>
          </a:prstGeom>
          <a:solidFill>
            <a:srgbClr val="F2F5FA"/>
          </a:solidFill>
          <a:ln w="9525">
            <a:solidFill>
              <a:srgbClr val="D8DEE9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28" name="Shape 26"/>
          <p:cNvSpPr/>
          <p:nvPr/>
        </p:nvSpPr>
        <p:spPr>
          <a:xfrm>
            <a:off x="4407408" y="5705856"/>
            <a:ext cx="182880" cy="182880"/>
          </a:xfrm>
          <a:prstGeom prst="ellipse">
            <a:avLst/>
          </a:prstGeom>
          <a:solidFill>
            <a:srgbClr val="B7791F"/>
          </a:solidFill>
          <a:ln w="12700">
            <a:solidFill>
              <a:srgbClr val="B7791F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29" name="Text 27"/>
          <p:cNvSpPr txBox="1"/>
          <p:nvPr/>
        </p:nvSpPr>
        <p:spPr>
          <a:xfrm>
            <a:off x="4718304" y="5477256"/>
            <a:ext cx="3200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alcance se desborda</a:t>
            </a:r>
            <a:endParaRPr lang="en-US" sz="1150" dirty="0"/>
          </a:p>
        </p:txBody>
      </p:sp>
      <p:sp>
        <p:nvSpPr>
          <p:cNvPr id="30" name="Text 28"/>
          <p:cNvSpPr txBox="1"/>
          <p:nvPr/>
        </p:nvSpPr>
        <p:spPr>
          <a:xfrm>
            <a:off x="8046720" y="5477256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C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Extensiones condicionadas; revisión en cada hito.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10058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B779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EQUIPO Y EVIDENCIAS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58368"/>
            <a:ext cx="10881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Quién responde por qué, y qué se entrega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481328"/>
            <a:ext cx="3383280" cy="1691640"/>
          </a:xfrm>
          <a:prstGeom prst="roundRect">
            <a:avLst>
              <a:gd name="adj" fmla="val 3243"/>
            </a:avLst>
          </a:prstGeom>
          <a:solidFill>
            <a:srgbClr val="FFFFFF"/>
          </a:solidFill>
          <a:ln w="9525">
            <a:solidFill>
              <a:srgbClr val="D8DEE9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5" name="Shape 3"/>
          <p:cNvSpPr/>
          <p:nvPr/>
        </p:nvSpPr>
        <p:spPr>
          <a:xfrm>
            <a:off x="877824" y="1691640"/>
            <a:ext cx="420624" cy="420624"/>
          </a:xfrm>
          <a:prstGeom prst="ellipse">
            <a:avLst/>
          </a:prstGeom>
          <a:solidFill>
            <a:srgbClr val="2F5FA8"/>
          </a:solidFill>
          <a:ln w="12700">
            <a:solidFill>
              <a:srgbClr val="2F5FA8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6" name="Text 4"/>
          <p:cNvSpPr txBox="1"/>
          <p:nvPr/>
        </p:nvSpPr>
        <p:spPr>
          <a:xfrm>
            <a:off x="877824" y="169164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1408176" y="1700784"/>
            <a:ext cx="2468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Felipe Orellana</a:t>
            </a:r>
            <a:endParaRPr lang="en-US" sz="1350" dirty="0"/>
          </a:p>
        </p:txBody>
      </p:sp>
      <p:sp>
        <p:nvSpPr>
          <p:cNvPr id="8" name="Text 6"/>
          <p:cNvSpPr txBox="1"/>
          <p:nvPr/>
        </p:nvSpPr>
        <p:spPr>
          <a:xfrm>
            <a:off x="1408176" y="1938528"/>
            <a:ext cx="2468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2F5F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Backend y agentes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877824" y="2331720"/>
            <a:ext cx="2926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C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Diseño de la solución, búsqueda en registros europeos y prensa, redacción del informe y avance en tiempo real.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297680" y="1481328"/>
            <a:ext cx="3383280" cy="1691640"/>
          </a:xfrm>
          <a:prstGeom prst="roundRect">
            <a:avLst>
              <a:gd name="adj" fmla="val 3243"/>
            </a:avLst>
          </a:prstGeom>
          <a:solidFill>
            <a:srgbClr val="FFFFFF"/>
          </a:solidFill>
          <a:ln w="9525">
            <a:solidFill>
              <a:srgbClr val="D8DEE9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11" name="Shape 9"/>
          <p:cNvSpPr/>
          <p:nvPr/>
        </p:nvSpPr>
        <p:spPr>
          <a:xfrm>
            <a:off x="4535424" y="1691640"/>
            <a:ext cx="420624" cy="420624"/>
          </a:xfrm>
          <a:prstGeom prst="ellipse">
            <a:avLst/>
          </a:prstGeom>
          <a:solidFill>
            <a:srgbClr val="1D7A6E"/>
          </a:solidFill>
          <a:ln w="12700">
            <a:solidFill>
              <a:srgbClr val="1D7A6E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12" name="Text 10"/>
          <p:cNvSpPr txBox="1"/>
          <p:nvPr/>
        </p:nvSpPr>
        <p:spPr>
          <a:xfrm>
            <a:off x="4535424" y="169164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5065776" y="1700784"/>
            <a:ext cx="2468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Darío García</a:t>
            </a:r>
            <a:endParaRPr lang="en-US" sz="1350" dirty="0"/>
          </a:p>
        </p:txBody>
      </p:sp>
      <p:sp>
        <p:nvSpPr>
          <p:cNvPr id="14" name="Text 12"/>
          <p:cNvSpPr txBox="1"/>
          <p:nvPr/>
        </p:nvSpPr>
        <p:spPr>
          <a:xfrm>
            <a:off x="5065776" y="1938528"/>
            <a:ext cx="2468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D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Frontend e integraciones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4535424" y="2331720"/>
            <a:ext cx="2926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C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Dashboard, avance en tiempo real, envío por correo y automatización desde el calendario.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7955280" y="1481328"/>
            <a:ext cx="3383280" cy="1691640"/>
          </a:xfrm>
          <a:prstGeom prst="roundRect">
            <a:avLst>
              <a:gd name="adj" fmla="val 3243"/>
            </a:avLst>
          </a:prstGeom>
          <a:solidFill>
            <a:srgbClr val="FFFFFF"/>
          </a:solidFill>
          <a:ln w="9525">
            <a:solidFill>
              <a:srgbClr val="D8DEE9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17" name="Shape 15"/>
          <p:cNvSpPr/>
          <p:nvPr/>
        </p:nvSpPr>
        <p:spPr>
          <a:xfrm>
            <a:off x="8193024" y="1691640"/>
            <a:ext cx="420624" cy="420624"/>
          </a:xfrm>
          <a:prstGeom prst="ellipse">
            <a:avLst/>
          </a:prstGeom>
          <a:solidFill>
            <a:srgbClr val="B7791F"/>
          </a:solidFill>
          <a:ln w="12700">
            <a:solidFill>
              <a:srgbClr val="B7791F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18" name="Text 16"/>
          <p:cNvSpPr txBox="1"/>
          <p:nvPr/>
        </p:nvSpPr>
        <p:spPr>
          <a:xfrm>
            <a:off x="8193024" y="169164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FD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8723376" y="1700784"/>
            <a:ext cx="2468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Felipe Docmac</a:t>
            </a:r>
            <a:endParaRPr lang="en-US" sz="1350" dirty="0"/>
          </a:p>
        </p:txBody>
      </p:sp>
      <p:sp>
        <p:nvSpPr>
          <p:cNvPr id="20" name="Text 18"/>
          <p:cNvSpPr txBox="1"/>
          <p:nvPr/>
        </p:nvSpPr>
        <p:spPr>
          <a:xfrm>
            <a:off x="8723376" y="1938528"/>
            <a:ext cx="2468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B779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Seguridad y calidad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8193024" y="2331720"/>
            <a:ext cx="2926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C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Consolidación técnica, control de accesos, auditoría y plan de pruebas.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640080" y="3401568"/>
            <a:ext cx="5303520" cy="2514600"/>
          </a:xfrm>
          <a:prstGeom prst="roundRect">
            <a:avLst>
              <a:gd name="adj" fmla="val 2182"/>
            </a:avLst>
          </a:prstGeom>
          <a:solidFill>
            <a:srgbClr val="F2F5FA"/>
          </a:solidFill>
          <a:ln w="9525">
            <a:solidFill>
              <a:srgbClr val="D8DEE9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23" name="Text 21"/>
          <p:cNvSpPr txBox="1"/>
          <p:nvPr/>
        </p:nvSpPr>
        <p:spPr>
          <a:xfrm>
            <a:off x="914400" y="3584448"/>
            <a:ext cx="4754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kern="0" spc="15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CINCO EVIDENCIAS DE AVANCE</a:t>
            </a:r>
            <a:endParaRPr lang="en-US" sz="1050" dirty="0"/>
          </a:p>
        </p:txBody>
      </p:sp>
      <p:sp>
        <p:nvSpPr>
          <p:cNvPr id="24" name="Text 22"/>
          <p:cNvSpPr txBox="1"/>
          <p:nvPr/>
        </p:nvSpPr>
        <p:spPr>
          <a:xfrm>
            <a:off x="914400" y="3913632"/>
            <a:ext cx="4754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B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Diagnóstico y priorización de brechas</a:t>
            </a:r>
            <a:endParaRPr lang="en-US" sz="1150" dirty="0"/>
          </a:p>
        </p:txBody>
      </p:sp>
      <p:sp>
        <p:nvSpPr>
          <p:cNvPr id="25" name="Text 23"/>
          <p:cNvSpPr txBox="1"/>
          <p:nvPr/>
        </p:nvSpPr>
        <p:spPr>
          <a:xfrm>
            <a:off x="914400" y="4279392"/>
            <a:ext cx="4754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B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Informe de deuda técnica: inicio y entrega</a:t>
            </a:r>
            <a:endParaRPr lang="en-US" sz="1150" dirty="0"/>
          </a:p>
        </p:txBody>
      </p:sp>
      <p:sp>
        <p:nvSpPr>
          <p:cNvPr id="26" name="Text 24"/>
          <p:cNvSpPr txBox="1"/>
          <p:nvPr/>
        </p:nvSpPr>
        <p:spPr>
          <a:xfrm>
            <a:off x="914400" y="4645152"/>
            <a:ext cx="4754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B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Documento de diseño de la solución</a:t>
            </a:r>
            <a:endParaRPr lang="en-US" sz="1150" dirty="0"/>
          </a:p>
        </p:txBody>
      </p:sp>
      <p:sp>
        <p:nvSpPr>
          <p:cNvPr id="27" name="Text 25"/>
          <p:cNvSpPr txBox="1"/>
          <p:nvPr/>
        </p:nvSpPr>
        <p:spPr>
          <a:xfrm>
            <a:off x="914400" y="5010912"/>
            <a:ext cx="4754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150" dirty="0">
                <a:solidFill>
                  <a:srgbClr val="1B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</a:t>
            </a:r>
            <a:r>
              <a:rPr lang="en-US" sz="1150" dirty="0" err="1">
                <a:solidFill>
                  <a:srgbClr val="1B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Repositorio</a:t>
            </a:r>
            <a:r>
              <a:rPr lang="en-US" sz="1150" dirty="0">
                <a:solidFill>
                  <a:srgbClr val="1B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con </a:t>
            </a:r>
            <a:r>
              <a:rPr lang="en-US" sz="1150" dirty="0" err="1">
                <a:solidFill>
                  <a:srgbClr val="1B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</a:t>
            </a:r>
            <a:r>
              <a:rPr lang="en-US" sz="1150" dirty="0">
                <a:solidFill>
                  <a:srgbClr val="1B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50" dirty="0" err="1">
                <a:solidFill>
                  <a:srgbClr val="1B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agentes</a:t>
            </a:r>
            <a:r>
              <a:rPr lang="en-US" sz="1150" dirty="0">
                <a:solidFill>
                  <a:srgbClr val="1B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50" dirty="0" err="1">
                <a:solidFill>
                  <a:srgbClr val="1B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operativos</a:t>
            </a:r>
            <a:endParaRPr lang="en-US" sz="1150" dirty="0"/>
          </a:p>
        </p:txBody>
      </p:sp>
      <p:sp>
        <p:nvSpPr>
          <p:cNvPr id="28" name="Text 26"/>
          <p:cNvSpPr txBox="1"/>
          <p:nvPr/>
        </p:nvSpPr>
        <p:spPr>
          <a:xfrm>
            <a:off x="914400" y="5376672"/>
            <a:ext cx="4754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B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Dashboard con avance en tiempo real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6245352" y="3401568"/>
            <a:ext cx="5303520" cy="2514600"/>
          </a:xfrm>
          <a:prstGeom prst="roundRect">
            <a:avLst>
              <a:gd name="adj" fmla="val 2182"/>
            </a:avLst>
          </a:prstGeom>
          <a:solidFill>
            <a:srgbClr val="F2F5FA"/>
          </a:solidFill>
          <a:ln w="9525">
            <a:solidFill>
              <a:srgbClr val="D8DEE9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30" name="Text 28"/>
          <p:cNvSpPr txBox="1"/>
          <p:nvPr/>
        </p:nvSpPr>
        <p:spPr>
          <a:xfrm>
            <a:off x="6519672" y="3584448"/>
            <a:ext cx="4754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kern="0" spc="150" dirty="0">
                <a:solidFill>
                  <a:srgbClr val="B779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CUATRO EVIDENCIAS FINALES</a:t>
            </a:r>
            <a:endParaRPr lang="en-US" sz="1050" dirty="0"/>
          </a:p>
        </p:txBody>
      </p:sp>
      <p:sp>
        <p:nvSpPr>
          <p:cNvPr id="31" name="Text 29"/>
          <p:cNvSpPr txBox="1"/>
          <p:nvPr/>
        </p:nvSpPr>
        <p:spPr>
          <a:xfrm>
            <a:off x="6519672" y="3913632"/>
            <a:ext cx="4754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B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Sistema en funcionamiento con envío por correo</a:t>
            </a:r>
            <a:endParaRPr lang="en-US" sz="1150" dirty="0"/>
          </a:p>
        </p:txBody>
      </p:sp>
      <p:sp>
        <p:nvSpPr>
          <p:cNvPr id="32" name="Text 30"/>
          <p:cNvSpPr txBox="1"/>
          <p:nvPr/>
        </p:nvSpPr>
        <p:spPr>
          <a:xfrm>
            <a:off x="6519672" y="4279392"/>
            <a:ext cx="4754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B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Informe de pruebas, seguridad y resultados</a:t>
            </a:r>
            <a:endParaRPr lang="en-US" sz="1150" dirty="0"/>
          </a:p>
        </p:txBody>
      </p:sp>
      <p:sp>
        <p:nvSpPr>
          <p:cNvPr id="33" name="Text 31"/>
          <p:cNvSpPr txBox="1"/>
          <p:nvPr/>
        </p:nvSpPr>
        <p:spPr>
          <a:xfrm>
            <a:off x="6519672" y="4645152"/>
            <a:ext cx="4754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B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Documentación técnica y manual de usuario</a:t>
            </a:r>
            <a:endParaRPr lang="en-US" sz="1150" dirty="0"/>
          </a:p>
        </p:txBody>
      </p:sp>
      <p:sp>
        <p:nvSpPr>
          <p:cNvPr id="34" name="Text 32"/>
          <p:cNvSpPr txBox="1"/>
          <p:nvPr/>
        </p:nvSpPr>
        <p:spPr>
          <a:xfrm>
            <a:off x="6519672" y="5010912"/>
            <a:ext cx="4754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B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Informe final y presentación de defensa</a:t>
            </a:r>
            <a:endParaRPr lang="en-US" sz="1150" dirty="0"/>
          </a:p>
        </p:txBody>
      </p:sp>
      <p:sp>
        <p:nvSpPr>
          <p:cNvPr id="35" name="Text 33"/>
          <p:cNvSpPr txBox="1"/>
          <p:nvPr/>
        </p:nvSpPr>
        <p:spPr>
          <a:xfrm>
            <a:off x="640080" y="6291072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5C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evidencia responde a uno o más objetivos específicos y tiene una actividad del plan que la produce.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463040" y="4023360"/>
            <a:ext cx="4572000" cy="4572000"/>
          </a:xfrm>
          <a:prstGeom prst="ellipse">
            <a:avLst/>
          </a:prstGeom>
          <a:solidFill>
            <a:srgbClr val="141B45"/>
          </a:solidFill>
          <a:ln w="12700">
            <a:solidFill>
              <a:srgbClr val="141B45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3" name="Shape 1"/>
          <p:cNvSpPr/>
          <p:nvPr/>
        </p:nvSpPr>
        <p:spPr>
          <a:xfrm>
            <a:off x="9966960" y="-1097280"/>
            <a:ext cx="3840480" cy="3840480"/>
          </a:xfrm>
          <a:prstGeom prst="ellipse">
            <a:avLst/>
          </a:prstGeom>
          <a:solidFill>
            <a:srgbClr val="141B45"/>
          </a:solidFill>
          <a:ln w="12700">
            <a:solidFill>
              <a:srgbClr val="141B45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4" name="Text 2"/>
          <p:cNvSpPr txBox="1"/>
          <p:nvPr/>
        </p:nvSpPr>
        <p:spPr>
          <a:xfrm>
            <a:off x="640080" y="1920240"/>
            <a:ext cx="10058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B779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UNA FRASE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2286000"/>
            <a:ext cx="104241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46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El sistema existe. No cumple lo que promete.</a:t>
            </a:r>
            <a:endParaRPr lang="en-US" sz="3400" dirty="0"/>
          </a:p>
          <a:p>
            <a:pPr marL="0" indent="0">
              <a:lnSpc>
                <a:spcPts val="46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Ese es exactamente nuestro trabajo.</a:t>
            </a:r>
            <a:endParaRPr lang="en-US" sz="3400" dirty="0"/>
          </a:p>
        </p:txBody>
      </p:sp>
      <p:sp>
        <p:nvSpPr>
          <p:cNvPr id="6" name="Shape 4"/>
          <p:cNvSpPr/>
          <p:nvPr/>
        </p:nvSpPr>
        <p:spPr>
          <a:xfrm>
            <a:off x="640080" y="3977640"/>
            <a:ext cx="1280160" cy="32004"/>
          </a:xfrm>
          <a:prstGeom prst="rect">
            <a:avLst/>
          </a:prstGeom>
          <a:solidFill>
            <a:srgbClr val="B7791F"/>
          </a:solidFill>
          <a:ln w="12700">
            <a:solidFill>
              <a:srgbClr val="B7791F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7" name="Text 5"/>
          <p:cNvSpPr txBox="1"/>
          <p:nvPr/>
        </p:nvSpPr>
        <p:spPr>
          <a:xfrm>
            <a:off x="640080" y="429768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dirty="0">
                <a:solidFill>
                  <a:srgbClr val="CADC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Gracias.</a:t>
            </a:r>
            <a:endParaRPr lang="en-US" sz="220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5943600"/>
            <a:ext cx="10424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Continuidad Project Dossier  ·  Alloxentric  ·  Fase 1, septiembre de 2026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105</TotalTime>
  <Words>1600</Words>
  <Application>Microsoft Office PowerPoint</Application>
  <PresentationFormat>Panorámica</PresentationFormat>
  <Paragraphs>289</Paragraphs>
  <Slides>13</Slides>
  <Notes>12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13</vt:i4>
      </vt:variant>
    </vt:vector>
  </HeadingPairs>
  <TitlesOfParts>
    <vt:vector size="17" baseType="lpstr">
      <vt:lpstr>Arial</vt:lpstr>
      <vt:lpstr>Calibri</vt:lpstr>
      <vt:lpstr>Cambria</vt:lpstr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FELIPE ANDRES DOCMAC BRAVO</cp:lastModifiedBy>
  <cp:revision>9</cp:revision>
  <dcterms:created xsi:type="dcterms:W3CDTF">2026-09-01T22:03:39Z</dcterms:created>
  <dcterms:modified xsi:type="dcterms:W3CDTF">2026-09-02T17:17:01Z</dcterms:modified>
</cp:coreProperties>
</file>