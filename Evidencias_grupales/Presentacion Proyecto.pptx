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68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831" autoAdjust="0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523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39837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 la Fase 1. Proyecto de continuidad para la empresa Alloxentric.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dato de 20 minutos viene del PRD del producto. Declararlo como meta por validar, no como hallazgo propio.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Insistir: el porcentaje es juicio técnico. Lo que sí está verificado son los hallazgos de código.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brecha se comprobó en el código. El POLL_MS = 3000 es literal.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Sprint 0 dura cuatro semanas y coincide con la Fase 1. Los siete siguientes son de dos semanas.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71600"/>
            <a:ext cx="4937760" cy="4937760"/>
          </a:xfrm>
          <a:prstGeom prst="ellipse">
            <a:avLst/>
          </a:prstGeom>
          <a:solidFill>
            <a:srgbClr val="141B45"/>
          </a:solidFill>
          <a:ln w="12700">
            <a:solidFill>
              <a:srgbClr val="141B4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10241280" y="4206240"/>
            <a:ext cx="3108960" cy="3108960"/>
          </a:xfrm>
          <a:prstGeom prst="ellipse">
            <a:avLst/>
          </a:prstGeom>
          <a:solidFill>
            <a:srgbClr val="141B45"/>
          </a:solidFill>
          <a:ln w="12700">
            <a:solidFill>
              <a:srgbClr val="141B4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PORTAFOLIO DE TÍTULO  ·  FASE 1  ·  DEFINICIÓN DEL PROYECTO APT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8308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Continuidad Project Dossier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las brechas que impiden la operación del sistema con clientes reales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3429000"/>
            <a:ext cx="1280160" cy="32004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 txBox="1"/>
          <p:nvPr/>
        </p:nvSpPr>
        <p:spPr>
          <a:xfrm>
            <a:off x="640080" y="37490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Felipe Orellana Álvarez    ·    Darío García Avendaño    ·    Felipe Docmac Bravo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80060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2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0292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Alloxentric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480060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2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CARRERA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246120" y="50292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en Informática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852160" y="480060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2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SEDE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50292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Viña del Mar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458200" y="480060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2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 GUÍA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50292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Cristian Molina Pedernera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09600" y="6291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de 2026</a:t>
            </a:r>
            <a:endParaRPr lang="en-US" sz="1100" dirty="0"/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3ABA1B00-AA67-CC52-3D8E-EFAAB9299F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5481828"/>
            <a:ext cx="3108960" cy="6939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058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00">
                <a:solidFill>
                  <a:srgbClr val="B7791F"/>
                </a:solidFill>
                <a:latin typeface="Calibri"/>
              </a:rPr>
              <a:t>CONTEXTO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dirty="0">
                <a:solidFill>
                  <a:srgbClr val="1E2761"/>
                </a:solidFill>
                <a:latin typeface="Cambria"/>
              </a:rPr>
              <a:t>Un </a:t>
            </a:r>
            <a:r>
              <a:rPr sz="3200" b="1" dirty="0" err="1">
                <a:solidFill>
                  <a:srgbClr val="1E2761"/>
                </a:solidFill>
                <a:latin typeface="Cambria"/>
              </a:rPr>
              <a:t>proyecto</a:t>
            </a:r>
            <a:r>
              <a:rPr sz="3200" b="1" dirty="0">
                <a:solidFill>
                  <a:srgbClr val="1E2761"/>
                </a:solidFill>
                <a:latin typeface="Cambria"/>
              </a:rPr>
              <a:t> de </a:t>
            </a:r>
            <a:r>
              <a:rPr sz="3200" b="1" dirty="0" err="1">
                <a:solidFill>
                  <a:srgbClr val="1E2761"/>
                </a:solidFill>
                <a:latin typeface="Cambria"/>
              </a:rPr>
              <a:t>continuidad</a:t>
            </a:r>
            <a:r>
              <a:rPr sz="3200" b="1" dirty="0">
                <a:solidFill>
                  <a:srgbClr val="1E2761"/>
                </a:solidFill>
                <a:latin typeface="Cambria"/>
              </a:rPr>
              <a:t>, no de </a:t>
            </a:r>
            <a:r>
              <a:rPr sz="3200" b="1" dirty="0" err="1">
                <a:solidFill>
                  <a:srgbClr val="1E2761"/>
                </a:solidFill>
                <a:latin typeface="Cambria"/>
              </a:rPr>
              <a:t>creación</a:t>
            </a:r>
            <a:endParaRPr sz="3200" b="1" dirty="0">
              <a:solidFill>
                <a:srgbClr val="1E2761"/>
              </a:solidFill>
              <a:latin typeface="Cambr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487168"/>
            <a:ext cx="3502152" cy="1965960"/>
          </a:xfrm>
          <a:prstGeom prst="roundRect">
            <a:avLst>
              <a:gd name="adj" fmla="val 4000"/>
            </a:avLst>
          </a:prstGeom>
          <a:solidFill>
            <a:srgbClr val="F2F5FA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32688" y="2761488"/>
            <a:ext cx="457200" cy="64008"/>
          </a:xfrm>
          <a:prstGeom prst="round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3017520"/>
            <a:ext cx="291693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00">
                <a:solidFill>
                  <a:srgbClr val="B7791F"/>
                </a:solidFill>
                <a:latin typeface="Calibri"/>
              </a:rPr>
              <a:t>LA EMPRESA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401568"/>
            <a:ext cx="291693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00"/>
              </a:lnSpc>
              <a:spcAft>
                <a:spcPts val="0"/>
              </a:spcAft>
            </a:pPr>
            <a:r>
              <a:rPr sz="1450" b="0">
                <a:solidFill>
                  <a:srgbClr val="1B2233"/>
                </a:solidFill>
                <a:latin typeface="Calibri"/>
              </a:rPr>
              <a:t>Alloxentric desarrolla Project Dossier,</a:t>
            </a:r>
          </a:p>
          <a:p>
            <a:pPr algn="l">
              <a:lnSpc>
                <a:spcPts val="2200"/>
              </a:lnSpc>
              <a:spcAft>
                <a:spcPts val="0"/>
              </a:spcAft>
            </a:pPr>
            <a:r>
              <a:rPr sz="1450" b="0">
                <a:solidFill>
                  <a:srgbClr val="1B2233"/>
                </a:solidFill>
                <a:latin typeface="Calibri"/>
              </a:rPr>
              <a:t>un asistente que prepara reuniones de trabajo.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487168"/>
            <a:ext cx="3502152" cy="1965960"/>
          </a:xfrm>
          <a:prstGeom prst="roundRect">
            <a:avLst>
              <a:gd name="adj" fmla="val 4000"/>
            </a:avLst>
          </a:prstGeom>
          <a:solidFill>
            <a:srgbClr val="F2F5FA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636008" y="2761488"/>
            <a:ext cx="457200" cy="64008"/>
          </a:xfrm>
          <a:prstGeom prst="round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36008" y="3017520"/>
            <a:ext cx="291693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00">
                <a:solidFill>
                  <a:srgbClr val="B7791F"/>
                </a:solidFill>
                <a:latin typeface="Calibri"/>
              </a:rPr>
              <a:t>EL ESTADO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401568"/>
            <a:ext cx="291693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00"/>
              </a:lnSpc>
              <a:spcAft>
                <a:spcPts val="0"/>
              </a:spcAft>
            </a:pPr>
            <a:r>
              <a:rPr sz="1450" b="0">
                <a:solidFill>
                  <a:srgbClr val="1B2233"/>
                </a:solidFill>
                <a:latin typeface="Calibri"/>
              </a:rPr>
              <a:t>Quedó incompleto frente a lo que</a:t>
            </a:r>
          </a:p>
          <a:p>
            <a:pPr algn="l">
              <a:lnSpc>
                <a:spcPts val="2200"/>
              </a:lnSpc>
              <a:spcAft>
                <a:spcPts val="0"/>
              </a:spcAft>
            </a:pPr>
            <a:r>
              <a:rPr sz="1450" b="0">
                <a:solidFill>
                  <a:srgbClr val="1B2233"/>
                </a:solidFill>
                <a:latin typeface="Calibri"/>
              </a:rPr>
              <a:t>su propia especificación promete.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2487168"/>
            <a:ext cx="3502152" cy="1965960"/>
          </a:xfrm>
          <a:prstGeom prst="roundRect">
            <a:avLst>
              <a:gd name="adj" fmla="val 4000"/>
            </a:avLst>
          </a:prstGeom>
          <a:solidFill>
            <a:srgbClr val="F2F5FA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339327" y="2761488"/>
            <a:ext cx="457200" cy="64008"/>
          </a:xfrm>
          <a:prstGeom prst="round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39327" y="3017520"/>
            <a:ext cx="291693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00">
                <a:solidFill>
                  <a:srgbClr val="B7791F"/>
                </a:solidFill>
                <a:latin typeface="Calibri"/>
              </a:rPr>
              <a:t>NUESTRO 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7" y="3401568"/>
            <a:ext cx="291693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00"/>
              </a:lnSpc>
              <a:spcAft>
                <a:spcPts val="0"/>
              </a:spcAft>
            </a:pPr>
            <a:r>
              <a:rPr sz="1450" b="0">
                <a:solidFill>
                  <a:srgbClr val="1B2233"/>
                </a:solidFill>
                <a:latin typeface="Calibri"/>
              </a:rPr>
              <a:t>Continuarlo hasta dejarlo operativo</a:t>
            </a:r>
          </a:p>
          <a:p>
            <a:pPr algn="l">
              <a:lnSpc>
                <a:spcPts val="2200"/>
              </a:lnSpc>
              <a:spcAft>
                <a:spcPts val="0"/>
              </a:spcAft>
            </a:pPr>
            <a:r>
              <a:rPr sz="1450" b="0">
                <a:solidFill>
                  <a:srgbClr val="1B2233"/>
                </a:solidFill>
                <a:latin typeface="Calibri"/>
              </a:rPr>
              <a:t>con clientes reales.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Prepararse para una reunión externa cuesta caro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50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antecedentes que se necesitan viven en sitios distintos. Buscarlos es manual, se repite en cada reunión y rara vez alcanza para revisar todo.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843784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 txBox="1"/>
          <p:nvPr/>
        </p:nvSpPr>
        <p:spPr>
          <a:xfrm>
            <a:off x="640080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7889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 dispersas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081528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Perfiles, registros y prensa, cada uno por separado.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49624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 txBox="1"/>
          <p:nvPr/>
        </p:nvSpPr>
        <p:spPr>
          <a:xfrm>
            <a:off x="640080" y="3849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7947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que se contradicen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087368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cargo declarado no siempre coincide con el registro oficial.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855464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Text 12"/>
          <p:cNvSpPr txBox="1"/>
          <p:nvPr/>
        </p:nvSpPr>
        <p:spPr>
          <a:xfrm>
            <a:off x="640080" y="48554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4800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Señales que nadie revisa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5093208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Insolvencias y litigios quedan fuera.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178040" y="1508760"/>
            <a:ext cx="4370832" cy="2788920"/>
          </a:xfrm>
          <a:prstGeom prst="roundRect">
            <a:avLst>
              <a:gd name="adj" fmla="val 1967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8" name="Text 16"/>
          <p:cNvSpPr txBox="1"/>
          <p:nvPr/>
        </p:nvSpPr>
        <p:spPr>
          <a:xfrm>
            <a:off x="7406640" y="182880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~20 min</a:t>
            </a:r>
            <a:endParaRPr lang="en-US" sz="6200" dirty="0"/>
          </a:p>
        </p:txBody>
      </p:sp>
      <p:sp>
        <p:nvSpPr>
          <p:cNvPr id="19" name="Text 17"/>
          <p:cNvSpPr txBox="1"/>
          <p:nvPr/>
        </p:nvSpPr>
        <p:spPr>
          <a:xfrm>
            <a:off x="7406640" y="27889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preparación por reunión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406640" y="32004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del producto: menos de 30 segundos.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i="1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medir, no demostrado.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178040" y="4480560"/>
            <a:ext cx="4370832" cy="1234440"/>
          </a:xfrm>
          <a:prstGeom prst="roundRect">
            <a:avLst>
              <a:gd name="adj" fmla="val 4444"/>
            </a:avLst>
          </a:prstGeom>
          <a:solidFill>
            <a:srgbClr val="E7F2EC"/>
          </a:solidFill>
          <a:ln w="9525">
            <a:solidFill>
              <a:srgbClr val="2E7D5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2" name="Text 20"/>
          <p:cNvSpPr txBox="1"/>
          <p:nvPr/>
        </p:nvSpPr>
        <p:spPr>
          <a:xfrm>
            <a:off x="7406640" y="4480560"/>
            <a:ext cx="3931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ese nivel de preparación solo lo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alcanza quien tiene un asistente dedicado.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PRODUCTO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Dossier, un asistente de preparación de reuniones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813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4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Alloxentric desarrolla un sistema que lee el calendario del usuario, busca antecedentes de los participantes en fuentes públicas y entrega un informe breve, con cada dato respaldado por su fuente, antes de que la reunión ocurra.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3383280" cy="1828800"/>
          </a:xfrm>
          <a:prstGeom prst="roundRect">
            <a:avLst>
              <a:gd name="adj" fmla="val 3000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Shape 4"/>
          <p:cNvSpPr/>
          <p:nvPr/>
        </p:nvSpPr>
        <p:spPr>
          <a:xfrm>
            <a:off x="896112" y="2578608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 txBox="1"/>
          <p:nvPr/>
        </p:nvSpPr>
        <p:spPr>
          <a:xfrm>
            <a:off x="896112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606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072384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el calendario y reconoce las reuniones con participantes externos.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041648" y="2971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297680" y="2331720"/>
            <a:ext cx="3383280" cy="1828800"/>
          </a:xfrm>
          <a:prstGeom prst="roundRect">
            <a:avLst>
              <a:gd name="adj" fmla="val 3000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Shape 10"/>
          <p:cNvSpPr/>
          <p:nvPr/>
        </p:nvSpPr>
        <p:spPr>
          <a:xfrm>
            <a:off x="4553712" y="2578608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Text 11"/>
          <p:cNvSpPr txBox="1"/>
          <p:nvPr/>
        </p:nvSpPr>
        <p:spPr>
          <a:xfrm>
            <a:off x="4553712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606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553712" y="3072384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registros corporativos oficiales, perfiles profesionales y prensa.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699248" y="2971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955280" y="2331720"/>
            <a:ext cx="3383280" cy="1828800"/>
          </a:xfrm>
          <a:prstGeom prst="roundRect">
            <a:avLst>
              <a:gd name="adj" fmla="val 3000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8" name="Shape 16"/>
          <p:cNvSpPr/>
          <p:nvPr/>
        </p:nvSpPr>
        <p:spPr>
          <a:xfrm>
            <a:off x="8211312" y="2578608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Text 17"/>
          <p:cNvSpPr txBox="1"/>
          <p:nvPr/>
        </p:nvSpPr>
        <p:spPr>
          <a:xfrm>
            <a:off x="8211312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778240" y="2606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211312" y="3072384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un informe con alertas, trayectoria profesional y las fuentes citadas.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4526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QUIÉNES SIRVE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4828032"/>
            <a:ext cx="2044598" cy="45720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4" name="Text 22"/>
          <p:cNvSpPr txBox="1"/>
          <p:nvPr/>
        </p:nvSpPr>
        <p:spPr>
          <a:xfrm>
            <a:off x="731520" y="4828032"/>
            <a:ext cx="1861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Ejecutivos y gerentes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849270" y="4828032"/>
            <a:ext cx="2044598" cy="45720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6" name="Text 24"/>
          <p:cNvSpPr txBox="1"/>
          <p:nvPr/>
        </p:nvSpPr>
        <p:spPr>
          <a:xfrm>
            <a:off x="2940710" y="4828032"/>
            <a:ext cx="1861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Equipos comerciales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058461" y="4828032"/>
            <a:ext cx="2044598" cy="45720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8" name="Text 26"/>
          <p:cNvSpPr txBox="1"/>
          <p:nvPr/>
        </p:nvSpPr>
        <p:spPr>
          <a:xfrm>
            <a:off x="5149901" y="4828032"/>
            <a:ext cx="1861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Reclutadores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267651" y="4828032"/>
            <a:ext cx="2044598" cy="45720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0" name="Text 28"/>
          <p:cNvSpPr txBox="1"/>
          <p:nvPr/>
        </p:nvSpPr>
        <p:spPr>
          <a:xfrm>
            <a:off x="7359091" y="4828032"/>
            <a:ext cx="1861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Fundadores e inversionistas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9476842" y="4828032"/>
            <a:ext cx="2044598" cy="45720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2" name="Text 30"/>
          <p:cNvSpPr txBox="1"/>
          <p:nvPr/>
        </p:nvSpPr>
        <p:spPr>
          <a:xfrm>
            <a:off x="9568282" y="4828032"/>
            <a:ext cx="1861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Profesionales independientes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486400"/>
            <a:ext cx="10881360" cy="749808"/>
          </a:xfrm>
          <a:prstGeom prst="roundRect">
            <a:avLst>
              <a:gd name="adj" fmla="val 7317"/>
            </a:avLst>
          </a:prstGeom>
          <a:solidFill>
            <a:srgbClr val="FBF3E2"/>
          </a:solidFill>
          <a:ln w="9525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4" name="Text 32"/>
          <p:cNvSpPr txBox="1"/>
          <p:nvPr/>
        </p:nvSpPr>
        <p:spPr>
          <a:xfrm>
            <a:off x="896112" y="5486400"/>
            <a:ext cx="10332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con foco inicial en Reino Unido y Estados Unidos, con expansión prevista a Europa continental. Eso define qué registros de empresas debe cubrir el sistema.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058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00" dirty="0">
                <a:solidFill>
                  <a:srgbClr val="B7791F"/>
                </a:solidFill>
                <a:latin typeface="Calibri"/>
              </a:rPr>
              <a:t>TECNOLOGÍAS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dirty="0">
                <a:solidFill>
                  <a:srgbClr val="1E2761"/>
                </a:solidFill>
                <a:latin typeface="Cambria"/>
              </a:rPr>
              <a:t>Las </a:t>
            </a:r>
            <a:r>
              <a:rPr sz="3200" b="1" dirty="0" err="1">
                <a:solidFill>
                  <a:srgbClr val="1E2761"/>
                </a:solidFill>
                <a:latin typeface="Cambria"/>
              </a:rPr>
              <a:t>tecnologías</a:t>
            </a:r>
            <a:r>
              <a:rPr sz="3200" b="1" dirty="0">
                <a:solidFill>
                  <a:srgbClr val="1E2761"/>
                </a:solidFill>
                <a:latin typeface="Cambria"/>
              </a:rPr>
              <a:t> con las </a:t>
            </a:r>
            <a:r>
              <a:rPr sz="3200" b="1" dirty="0" err="1">
                <a:solidFill>
                  <a:srgbClr val="1E2761"/>
                </a:solidFill>
                <a:latin typeface="Cambria"/>
              </a:rPr>
              <a:t>que</a:t>
            </a:r>
            <a:r>
              <a:rPr sz="3200" b="1" dirty="0">
                <a:solidFill>
                  <a:srgbClr val="1E2761"/>
                </a:solidFill>
                <a:latin typeface="Cambria"/>
              </a:rPr>
              <a:t> </a:t>
            </a:r>
            <a:r>
              <a:rPr sz="3200" b="1" dirty="0" err="1">
                <a:solidFill>
                  <a:srgbClr val="1E2761"/>
                </a:solidFill>
                <a:latin typeface="Cambria"/>
              </a:rPr>
              <a:t>está</a:t>
            </a:r>
            <a:r>
              <a:rPr sz="3200" b="1" dirty="0">
                <a:solidFill>
                  <a:srgbClr val="1E2761"/>
                </a:solidFill>
                <a:latin typeface="Cambria"/>
              </a:rPr>
              <a:t> </a:t>
            </a:r>
            <a:r>
              <a:rPr sz="3200" b="1" dirty="0" err="1">
                <a:solidFill>
                  <a:srgbClr val="1E2761"/>
                </a:solidFill>
                <a:latin typeface="Cambria"/>
              </a:rPr>
              <a:t>construido</a:t>
            </a:r>
            <a:endParaRPr sz="3200" b="1" dirty="0">
              <a:solidFill>
                <a:srgbClr val="1E2761"/>
              </a:solidFill>
              <a:latin typeface="Cambri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B2233"/>
                </a:solidFill>
                <a:latin typeface="Calibri"/>
              </a:rPr>
              <a:t>El sistema ya está hecho con estas herramientas. No las elegimos nosotros: las heredamos y trabajamos sobre ellas.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93392"/>
            <a:ext cx="3502152" cy="1481328"/>
          </a:xfrm>
          <a:prstGeom prst="roundRect">
            <a:avLst>
              <a:gd name="adj" fmla="val 5000"/>
            </a:avLst>
          </a:prstGeom>
          <a:solidFill>
            <a:srgbClr val="F2F5FA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29535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B7791F"/>
                </a:solidFill>
                <a:latin typeface="Calibri"/>
              </a:rPr>
              <a:t>FRONTEND</a:t>
            </a:r>
            <a:r>
              <a:rPr sz="950" b="0">
                <a:solidFill>
                  <a:srgbClr val="5C6675"/>
                </a:solidFill>
                <a:latin typeface="Calibri"/>
              </a:rPr>
              <a:t>  ·  lo que ve el usuario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523744"/>
            <a:ext cx="618134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Next.js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23974" y="2523744"/>
            <a:ext cx="475488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React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0902" y="2523744"/>
            <a:ext cx="832104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TypeScript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834640"/>
            <a:ext cx="974750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 dirty="0">
                <a:solidFill>
                  <a:srgbClr val="1E2761"/>
                </a:solidFill>
                <a:latin typeface="Calibri"/>
              </a:rPr>
              <a:t>Tailwind CSS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993392"/>
            <a:ext cx="3502152" cy="1481328"/>
          </a:xfrm>
          <a:prstGeom prst="roundRect">
            <a:avLst>
              <a:gd name="adj" fmla="val 5000"/>
            </a:avLst>
          </a:prstGeom>
          <a:solidFill>
            <a:srgbClr val="F2F5FA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17720" y="2194560"/>
            <a:ext cx="29535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 dirty="0">
                <a:solidFill>
                  <a:srgbClr val="B7791F"/>
                </a:solidFill>
                <a:latin typeface="Calibri"/>
              </a:rPr>
              <a:t>BACKEND</a:t>
            </a:r>
            <a:r>
              <a:rPr sz="950" b="0" dirty="0">
                <a:solidFill>
                  <a:srgbClr val="5C6675"/>
                </a:solidFill>
                <a:latin typeface="Calibri"/>
              </a:rPr>
              <a:t>  ·  el motor </a:t>
            </a:r>
            <a:r>
              <a:rPr sz="950" b="0" dirty="0" err="1">
                <a:solidFill>
                  <a:srgbClr val="5C6675"/>
                </a:solidFill>
                <a:latin typeface="Calibri"/>
              </a:rPr>
              <a:t>que</a:t>
            </a:r>
            <a:r>
              <a:rPr sz="950" b="0" dirty="0">
                <a:solidFill>
                  <a:srgbClr val="5C6675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5C6675"/>
                </a:solidFill>
                <a:latin typeface="Calibri"/>
              </a:rPr>
              <a:t>procesa</a:t>
            </a:r>
            <a:endParaRPr sz="950" b="0" dirty="0">
              <a:solidFill>
                <a:srgbClr val="5C6675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617720" y="2523744"/>
            <a:ext cx="546811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Python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5971" y="2523744"/>
            <a:ext cx="618134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FastAPI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65545" y="2523744"/>
            <a:ext cx="832104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SQLAlchemy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89089" y="2523744"/>
            <a:ext cx="618134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Uvicorn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1993392"/>
            <a:ext cx="3502152" cy="1481328"/>
          </a:xfrm>
          <a:prstGeom prst="roundRect">
            <a:avLst>
              <a:gd name="adj" fmla="val 5000"/>
            </a:avLst>
          </a:prstGeom>
          <a:solidFill>
            <a:srgbClr val="F2F5FA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2194560"/>
            <a:ext cx="29535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B7791F"/>
                </a:solidFill>
                <a:latin typeface="Calibri"/>
              </a:rPr>
              <a:t>DATOS</a:t>
            </a:r>
            <a:r>
              <a:rPr sz="950" b="0">
                <a:solidFill>
                  <a:srgbClr val="5C6675"/>
                </a:solidFill>
                <a:latin typeface="Calibri"/>
              </a:rPr>
              <a:t>  ·  dónde se guarda todo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2523744"/>
            <a:ext cx="832104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PostgreSQL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44584" y="2523744"/>
            <a:ext cx="475488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Redis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657600"/>
            <a:ext cx="3502152" cy="1481328"/>
          </a:xfrm>
          <a:prstGeom prst="roundRect">
            <a:avLst>
              <a:gd name="adj" fmla="val 5000"/>
            </a:avLst>
          </a:prstGeom>
          <a:solidFill>
            <a:srgbClr val="F2F5FA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3858768"/>
            <a:ext cx="29535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B7791F"/>
                </a:solidFill>
                <a:latin typeface="Calibri"/>
              </a:rPr>
              <a:t>SEGURIDAD</a:t>
            </a:r>
            <a:r>
              <a:rPr sz="950" b="0">
                <a:solidFill>
                  <a:srgbClr val="5C6675"/>
                </a:solidFill>
                <a:latin typeface="Calibri"/>
              </a:rPr>
              <a:t>  ·  quién puede entrar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187952"/>
            <a:ext cx="332841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JWT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38681" y="4187952"/>
            <a:ext cx="760780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OAuth 2.0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90902" y="4187952"/>
            <a:ext cx="546811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bcrypt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3657600"/>
            <a:ext cx="3502152" cy="1481328"/>
          </a:xfrm>
          <a:prstGeom prst="roundRect">
            <a:avLst>
              <a:gd name="adj" fmla="val 5000"/>
            </a:avLst>
          </a:prstGeom>
          <a:solidFill>
            <a:srgbClr val="F2F5FA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17720" y="3858768"/>
            <a:ext cx="29535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B7791F"/>
                </a:solidFill>
                <a:latin typeface="Calibri"/>
              </a:rPr>
              <a:t>AGENTES E IA</a:t>
            </a:r>
            <a:r>
              <a:rPr sz="950" b="0">
                <a:solidFill>
                  <a:srgbClr val="5C6675"/>
                </a:solidFill>
                <a:latin typeface="Calibri"/>
              </a:rPr>
              <a:t>  ·  busca y redacta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4187952"/>
            <a:ext cx="760780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LangGraph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69940" y="4187952"/>
            <a:ext cx="1402689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Modelo de lenguaje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17720" y="4498848"/>
            <a:ext cx="1474012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Prompts localizados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19" y="3657600"/>
            <a:ext cx="3502152" cy="1481328"/>
          </a:xfrm>
          <a:prstGeom prst="roundRect">
            <a:avLst>
              <a:gd name="adj" fmla="val 5000"/>
            </a:avLst>
          </a:prstGeom>
          <a:solidFill>
            <a:srgbClr val="F2F5FA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21040" y="3858768"/>
            <a:ext cx="29535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spc="180">
                <a:solidFill>
                  <a:srgbClr val="B7791F"/>
                </a:solidFill>
                <a:latin typeface="Calibri"/>
              </a:rPr>
              <a:t>SERVICIOS EXTERNOS</a:t>
            </a:r>
            <a:r>
              <a:rPr sz="950" b="0">
                <a:solidFill>
                  <a:srgbClr val="5C6675"/>
                </a:solidFill>
                <a:latin typeface="Calibri"/>
              </a:rPr>
              <a:t>  ·  de dónde salen los datos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21040" y="4187952"/>
            <a:ext cx="1188719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Companies House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01200" y="4187952"/>
            <a:ext cx="760780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SEC EDGAR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21040" y="4498848"/>
            <a:ext cx="1260043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People Data Labs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72523" y="4498848"/>
            <a:ext cx="1188719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Google Calendar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21040" y="4809744"/>
            <a:ext cx="1188719" cy="26517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50" b="1">
                <a:solidFill>
                  <a:srgbClr val="1E2761"/>
                </a:solidFill>
                <a:latin typeface="Calibri"/>
              </a:rPr>
              <a:t>Microsoft Graph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TRABAJO DEL SEMESTRE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brechas entre lo que promete y lo que hace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768096"/>
          </a:xfrm>
          <a:prstGeom prst="roundRect">
            <a:avLst>
              <a:gd name="adj" fmla="val 7143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841248" y="1645920"/>
            <a:ext cx="402336" cy="402336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 txBox="1"/>
          <p:nvPr/>
        </p:nvSpPr>
        <p:spPr>
          <a:xfrm>
            <a:off x="841248" y="1645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89888" y="154533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sin estructura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389888" y="1819656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informe se guarda como un texto seguido. Al no estar separado en datos, no se puede ordenar, filtrar ni comprobar automáticamente si una fuente es real.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322576"/>
            <a:ext cx="10881360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Shape 10"/>
          <p:cNvSpPr/>
          <p:nvPr/>
        </p:nvSpPr>
        <p:spPr>
          <a:xfrm>
            <a:off x="841248" y="2505456"/>
            <a:ext cx="402336" cy="402336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Text 11"/>
          <p:cNvSpPr txBox="1"/>
          <p:nvPr/>
        </p:nvSpPr>
        <p:spPr>
          <a:xfrm>
            <a:off x="841248" y="2505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89888" y="240487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Reino Unido y Estados Unidos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389888" y="267919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consulta los registros de empresas británicos y estadounidenses, pero no los de Europa continental, que la especificación sí promete.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182112"/>
            <a:ext cx="10881360" cy="768096"/>
          </a:xfrm>
          <a:prstGeom prst="roundRect">
            <a:avLst>
              <a:gd name="adj" fmla="val 7143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Shape 17"/>
          <p:cNvSpPr/>
          <p:nvPr/>
        </p:nvSpPr>
        <p:spPr>
          <a:xfrm>
            <a:off x="841248" y="3364992"/>
            <a:ext cx="402336" cy="402336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Text 18"/>
          <p:cNvSpPr txBox="1"/>
          <p:nvPr/>
        </p:nvSpPr>
        <p:spPr>
          <a:xfrm>
            <a:off x="841248" y="3364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89888" y="326440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busca en prensa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389888" y="348069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no revisa noticias ni prensa sobre la persona o la empresa.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4041648"/>
            <a:ext cx="10881360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6" name="Shape 24"/>
          <p:cNvSpPr/>
          <p:nvPr/>
        </p:nvSpPr>
        <p:spPr>
          <a:xfrm>
            <a:off x="841248" y="4224528"/>
            <a:ext cx="402336" cy="402336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7" name="Text 25"/>
          <p:cNvSpPr txBox="1"/>
          <p:nvPr/>
        </p:nvSpPr>
        <p:spPr>
          <a:xfrm>
            <a:off x="841248" y="4224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389888" y="4123944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avance en tiempo real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1389888" y="4398264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Mientras se genera el informe, el dashboard no muestra en qué paso va: solo pregunta cada tres segundos si ya terminó.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0080" y="4901184"/>
            <a:ext cx="10881360" cy="768096"/>
          </a:xfrm>
          <a:prstGeom prst="roundRect">
            <a:avLst>
              <a:gd name="adj" fmla="val 7143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3" name="Shape 31"/>
          <p:cNvSpPr/>
          <p:nvPr/>
        </p:nvSpPr>
        <p:spPr>
          <a:xfrm>
            <a:off x="841248" y="5084064"/>
            <a:ext cx="402336" cy="402336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4" name="Text 32"/>
          <p:cNvSpPr txBox="1"/>
          <p:nvPr/>
        </p:nvSpPr>
        <p:spPr>
          <a:xfrm>
            <a:off x="841248" y="5084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1389888" y="49834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envío por correo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1389888" y="5212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envío del informe por correo está previsto en el sistema, pero no está construido.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general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298448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41B45"/>
          </a:solidFill>
          <a:ln w="9525">
            <a:solidFill>
              <a:srgbClr val="141B4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960120" y="1298448"/>
            <a:ext cx="10241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Completar el sistema existente Project Dossier, cerrando las brechas que hoy impiden su operación con clientes reales, para la empresa Alloxentric.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1460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NUEVE OBJETIVOS ESPECÍFICOS, CADA UNO SOBRE EL ANTERIOR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2606040" cy="2697480"/>
          </a:xfrm>
          <a:prstGeom prst="roundRect">
            <a:avLst>
              <a:gd name="adj" fmla="val 2105"/>
            </a:avLst>
          </a:prstGeom>
          <a:solidFill>
            <a:srgbClr val="141B45"/>
          </a:solidFill>
          <a:ln w="9525">
            <a:solidFill>
              <a:srgbClr val="2E3A7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Shape 6"/>
          <p:cNvSpPr/>
          <p:nvPr/>
        </p:nvSpPr>
        <p:spPr>
          <a:xfrm>
            <a:off x="896112" y="3127248"/>
            <a:ext cx="420624" cy="420624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Text 7"/>
          <p:cNvSpPr txBox="1"/>
          <p:nvPr/>
        </p:nvSpPr>
        <p:spPr>
          <a:xfrm>
            <a:off x="896112" y="3127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31821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 1 · 2 · 3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67588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Diagnosticar y consolidar</a:t>
            </a: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4261104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MX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Auditar el sistema, dejar el código en condiciones de trabajar sobre él y diseñar la solución.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64408" y="402336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3383280" y="2880360"/>
            <a:ext cx="2606040" cy="2697480"/>
          </a:xfrm>
          <a:prstGeom prst="roundRect">
            <a:avLst>
              <a:gd name="adj" fmla="val 2105"/>
            </a:avLst>
          </a:prstGeom>
          <a:solidFill>
            <a:srgbClr val="141B45"/>
          </a:solidFill>
          <a:ln w="9525">
            <a:solidFill>
              <a:srgbClr val="2E3A7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Shape 13"/>
          <p:cNvSpPr/>
          <p:nvPr/>
        </p:nvSpPr>
        <p:spPr>
          <a:xfrm>
            <a:off x="3639312" y="3127248"/>
            <a:ext cx="420624" cy="420624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 txBox="1"/>
          <p:nvPr/>
        </p:nvSpPr>
        <p:spPr>
          <a:xfrm>
            <a:off x="3639312" y="3127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160520" y="31821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 4 · 5 · 6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634740" y="3565787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Construir</a:t>
            </a:r>
            <a:endParaRPr lang="en-US" dirty="0"/>
          </a:p>
        </p:txBody>
      </p:sp>
      <p:sp>
        <p:nvSpPr>
          <p:cNvPr id="19" name="Text 17"/>
          <p:cNvSpPr txBox="1"/>
          <p:nvPr/>
        </p:nvSpPr>
        <p:spPr>
          <a:xfrm>
            <a:off x="3639312" y="4261104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MX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empresas europeas, búsqueda en prensa, informe estructurado y avance en tiempo real.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07608" y="402336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126480" y="2880360"/>
            <a:ext cx="2606040" cy="2697480"/>
          </a:xfrm>
          <a:prstGeom prst="roundRect">
            <a:avLst>
              <a:gd name="adj" fmla="val 2105"/>
            </a:avLst>
          </a:prstGeom>
          <a:solidFill>
            <a:srgbClr val="141B45"/>
          </a:solidFill>
          <a:ln w="9525">
            <a:solidFill>
              <a:srgbClr val="2E3A7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2" name="Shape 20"/>
          <p:cNvSpPr/>
          <p:nvPr/>
        </p:nvSpPr>
        <p:spPr>
          <a:xfrm>
            <a:off x="6382512" y="3127248"/>
            <a:ext cx="420624" cy="420624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3" name="Text 21"/>
          <p:cNvSpPr txBox="1"/>
          <p:nvPr/>
        </p:nvSpPr>
        <p:spPr>
          <a:xfrm>
            <a:off x="6382512" y="3127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903720" y="31821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 7 · 8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382512" y="358444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Entregar y asegurar</a:t>
            </a:r>
            <a:endParaRPr lang="en-US" dirty="0"/>
          </a:p>
        </p:txBody>
      </p:sp>
      <p:sp>
        <p:nvSpPr>
          <p:cNvPr id="26" name="Text 24"/>
          <p:cNvSpPr txBox="1"/>
          <p:nvPr/>
        </p:nvSpPr>
        <p:spPr>
          <a:xfrm>
            <a:off x="6382512" y="4261104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MX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por correo, permisos por usuario, registro de quién consulta cada informe, y pruebas.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750808" y="402336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8869680" y="2880360"/>
            <a:ext cx="2606040" cy="2697480"/>
          </a:xfrm>
          <a:prstGeom prst="roundRect">
            <a:avLst>
              <a:gd name="adj" fmla="val 2105"/>
            </a:avLst>
          </a:prstGeom>
          <a:solidFill>
            <a:srgbClr val="141B45"/>
          </a:solidFill>
          <a:ln w="9525">
            <a:solidFill>
              <a:srgbClr val="2E3A7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9" name="Shape 27"/>
          <p:cNvSpPr/>
          <p:nvPr/>
        </p:nvSpPr>
        <p:spPr>
          <a:xfrm>
            <a:off x="9125712" y="3127248"/>
            <a:ext cx="420624" cy="420624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0" name="Text 28"/>
          <p:cNvSpPr txBox="1"/>
          <p:nvPr/>
        </p:nvSpPr>
        <p:spPr>
          <a:xfrm>
            <a:off x="9125712" y="3127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646920" y="31821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 9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108730" y="358444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Documentar</a:t>
            </a:r>
            <a:endParaRPr lang="en-US" dirty="0"/>
          </a:p>
        </p:txBody>
      </p:sp>
      <p:sp>
        <p:nvSpPr>
          <p:cNvPr id="33" name="Text 31"/>
          <p:cNvSpPr txBox="1"/>
          <p:nvPr/>
        </p:nvSpPr>
        <p:spPr>
          <a:xfrm>
            <a:off x="9125712" y="4261104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técnica y manual de usuario para Alloxentric.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Scrum: un ciclo de dos semanas, repetido ocho veces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207008" y="1554480"/>
            <a:ext cx="1051560" cy="1051560"/>
          </a:xfrm>
          <a:prstGeom prst="ellipse">
            <a:avLst/>
          </a:prstGeom>
          <a:solidFill>
            <a:srgbClr val="F2F5FA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1216522" y="15530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2491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Planificar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017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entra en el ciclo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423160" y="18745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72491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Construir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3017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 que se pueda mostrar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212080" y="18745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784848" y="1554480"/>
            <a:ext cx="1051560" cy="1051560"/>
          </a:xfrm>
          <a:prstGeom prst="ellipse">
            <a:avLst/>
          </a:prstGeom>
          <a:solidFill>
            <a:srgbClr val="F2F5FA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 txBox="1"/>
          <p:nvPr/>
        </p:nvSpPr>
        <p:spPr>
          <a:xfrm>
            <a:off x="6794362" y="1513332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72491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Revisar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3017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docente guía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001000" y="18745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573768" y="1554480"/>
            <a:ext cx="1051560" cy="1051560"/>
          </a:xfrm>
          <a:prstGeom prst="ellipse">
            <a:avLst/>
          </a:prstGeom>
          <a:solidFill>
            <a:srgbClr val="F2F5FA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Text 18"/>
          <p:cNvSpPr txBox="1"/>
          <p:nvPr/>
        </p:nvSpPr>
        <p:spPr>
          <a:xfrm>
            <a:off x="9583282" y="1534792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9006840" y="272491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Ajustar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9006840" y="3017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retrospectiva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60704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10378440" y="23957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2 semanas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657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OCHO SPRINTS DEL SEMESTRE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3977640"/>
            <a:ext cx="1243584" cy="1600200"/>
          </a:xfrm>
          <a:prstGeom prst="roundRect">
            <a:avLst>
              <a:gd name="adj" fmla="val 4412"/>
            </a:avLst>
          </a:prstGeom>
          <a:solidFill>
            <a:srgbClr val="1E2761"/>
          </a:solidFill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7" name="Text 25"/>
          <p:cNvSpPr txBox="1"/>
          <p:nvPr/>
        </p:nvSpPr>
        <p:spPr>
          <a:xfrm>
            <a:off x="640080" y="4087368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4453128"/>
            <a:ext cx="1243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1–4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04088" y="4754880"/>
            <a:ext cx="1115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diseño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979676" y="3977640"/>
            <a:ext cx="1243584" cy="1600200"/>
          </a:xfrm>
          <a:prstGeom prst="roundRect">
            <a:avLst>
              <a:gd name="adj" fmla="val 4412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1" name="Text 29"/>
          <p:cNvSpPr txBox="1"/>
          <p:nvPr/>
        </p:nvSpPr>
        <p:spPr>
          <a:xfrm>
            <a:off x="1979676" y="4087368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979676" y="4453128"/>
            <a:ext cx="1243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5–6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2043684" y="4754880"/>
            <a:ext cx="1115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Consolidación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319272" y="3977640"/>
            <a:ext cx="1243584" cy="1600200"/>
          </a:xfrm>
          <a:prstGeom prst="roundRect">
            <a:avLst>
              <a:gd name="adj" fmla="val 4412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5" name="Text 33"/>
          <p:cNvSpPr txBox="1"/>
          <p:nvPr/>
        </p:nvSpPr>
        <p:spPr>
          <a:xfrm>
            <a:off x="3319272" y="4087368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3319272" y="4453128"/>
            <a:ext cx="1243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7–8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3383280" y="4754880"/>
            <a:ext cx="1115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europeos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658868" y="3977640"/>
            <a:ext cx="1243584" cy="1600200"/>
          </a:xfrm>
          <a:prstGeom prst="roundRect">
            <a:avLst>
              <a:gd name="adj" fmla="val 4412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9" name="Text 37"/>
          <p:cNvSpPr txBox="1"/>
          <p:nvPr/>
        </p:nvSpPr>
        <p:spPr>
          <a:xfrm>
            <a:off x="4658868" y="4087368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S3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4658868" y="4453128"/>
            <a:ext cx="1243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9–10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4722876" y="4754880"/>
            <a:ext cx="1115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Noticias y dashboard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998464" y="3977640"/>
            <a:ext cx="1243584" cy="1600200"/>
          </a:xfrm>
          <a:prstGeom prst="roundRect">
            <a:avLst>
              <a:gd name="adj" fmla="val 4412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3" name="Text 41"/>
          <p:cNvSpPr txBox="1"/>
          <p:nvPr/>
        </p:nvSpPr>
        <p:spPr>
          <a:xfrm>
            <a:off x="5998464" y="4087368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S4</a:t>
            </a:r>
            <a:endParaRPr lang="en-US" sz="1800" dirty="0"/>
          </a:p>
        </p:txBody>
      </p:sp>
      <p:sp>
        <p:nvSpPr>
          <p:cNvPr id="44" name="Text 42"/>
          <p:cNvSpPr txBox="1"/>
          <p:nvPr/>
        </p:nvSpPr>
        <p:spPr>
          <a:xfrm>
            <a:off x="5998464" y="4453128"/>
            <a:ext cx="1243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11–12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6062472" y="4754880"/>
            <a:ext cx="1115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estructurado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8060" y="3977640"/>
            <a:ext cx="1243584" cy="1600200"/>
          </a:xfrm>
          <a:prstGeom prst="roundRect">
            <a:avLst>
              <a:gd name="adj" fmla="val 4412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7" name="Text 45"/>
          <p:cNvSpPr txBox="1"/>
          <p:nvPr/>
        </p:nvSpPr>
        <p:spPr>
          <a:xfrm>
            <a:off x="7338060" y="4087368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S5</a:t>
            </a:r>
            <a:endParaRPr lang="en-US" sz="1800" dirty="0"/>
          </a:p>
        </p:txBody>
      </p:sp>
      <p:sp>
        <p:nvSpPr>
          <p:cNvPr id="48" name="Text 46"/>
          <p:cNvSpPr txBox="1"/>
          <p:nvPr/>
        </p:nvSpPr>
        <p:spPr>
          <a:xfrm>
            <a:off x="7338060" y="4453128"/>
            <a:ext cx="1243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13–14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7402068" y="4754880"/>
            <a:ext cx="1115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real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correo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677656" y="3977640"/>
            <a:ext cx="1243584" cy="1600200"/>
          </a:xfrm>
          <a:prstGeom prst="roundRect">
            <a:avLst>
              <a:gd name="adj" fmla="val 4412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1" name="Text 49"/>
          <p:cNvSpPr txBox="1"/>
          <p:nvPr/>
        </p:nvSpPr>
        <p:spPr>
          <a:xfrm>
            <a:off x="8677656" y="4087368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S6</a:t>
            </a:r>
            <a:endParaRPr lang="en-US" sz="1800" dirty="0"/>
          </a:p>
        </p:txBody>
      </p:sp>
      <p:sp>
        <p:nvSpPr>
          <p:cNvPr id="52" name="Text 50"/>
          <p:cNvSpPr txBox="1"/>
          <p:nvPr/>
        </p:nvSpPr>
        <p:spPr>
          <a:xfrm>
            <a:off x="8677656" y="4453128"/>
            <a:ext cx="1243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15–16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8741664" y="4754880"/>
            <a:ext cx="1115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y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10017252" y="3977640"/>
            <a:ext cx="1243584" cy="1600200"/>
          </a:xfrm>
          <a:prstGeom prst="roundRect">
            <a:avLst>
              <a:gd name="adj" fmla="val 4412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5" name="Text 53"/>
          <p:cNvSpPr txBox="1"/>
          <p:nvPr/>
        </p:nvSpPr>
        <p:spPr>
          <a:xfrm>
            <a:off x="10017252" y="4087368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S7</a:t>
            </a:r>
            <a:endParaRPr lang="en-US" sz="1800" dirty="0"/>
          </a:p>
        </p:txBody>
      </p:sp>
      <p:sp>
        <p:nvSpPr>
          <p:cNvPr id="56" name="Text 54"/>
          <p:cNvSpPr txBox="1"/>
          <p:nvPr/>
        </p:nvSpPr>
        <p:spPr>
          <a:xfrm>
            <a:off x="10017252" y="4453128"/>
            <a:ext cx="1243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17–18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10081260" y="4754880"/>
            <a:ext cx="1115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cierre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640080" y="5806440"/>
            <a:ext cx="2583180" cy="457200"/>
          </a:xfrm>
          <a:prstGeom prst="roundRect">
            <a:avLst>
              <a:gd name="adj" fmla="val 50000"/>
            </a:avLst>
          </a:prstGeom>
          <a:solidFill>
            <a:srgbClr val="FBF3E2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9" name="Text 57"/>
          <p:cNvSpPr txBox="1"/>
          <p:nvPr/>
        </p:nvSpPr>
        <p:spPr>
          <a:xfrm>
            <a:off x="731520" y="5806440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versiones con Git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3406140" y="5806440"/>
            <a:ext cx="2583180" cy="457200"/>
          </a:xfrm>
          <a:prstGeom prst="roundRect">
            <a:avLst>
              <a:gd name="adj" fmla="val 50000"/>
            </a:avLst>
          </a:prstGeom>
          <a:solidFill>
            <a:srgbClr val="FBF3E2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1" name="Text 59"/>
          <p:cNvSpPr txBox="1"/>
          <p:nvPr/>
        </p:nvSpPr>
        <p:spPr>
          <a:xfrm>
            <a:off x="3497580" y="5806440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entre pares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172200" y="5806440"/>
            <a:ext cx="2583180" cy="457200"/>
          </a:xfrm>
          <a:prstGeom prst="roundRect">
            <a:avLst>
              <a:gd name="adj" fmla="val 50000"/>
            </a:avLst>
          </a:prstGeom>
          <a:solidFill>
            <a:srgbClr val="FBF3E2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3" name="Text 61"/>
          <p:cNvSpPr txBox="1"/>
          <p:nvPr/>
        </p:nvSpPr>
        <p:spPr>
          <a:xfrm>
            <a:off x="6263640" y="5806440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tareas en Trello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8938260" y="5806440"/>
            <a:ext cx="2583180" cy="457200"/>
          </a:xfrm>
          <a:prstGeom prst="roundRect">
            <a:avLst>
              <a:gd name="adj" fmla="val 50000"/>
            </a:avLst>
          </a:prstGeom>
          <a:solidFill>
            <a:srgbClr val="FBF3E2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5" name="Text 63"/>
          <p:cNvSpPr txBox="1"/>
          <p:nvPr/>
        </p:nvSpPr>
        <p:spPr>
          <a:xfrm>
            <a:off x="9029700" y="5806440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de Terminado</a:t>
            </a:r>
            <a:endParaRPr lang="en-US" sz="1100" dirty="0"/>
          </a:p>
        </p:txBody>
      </p:sp>
      <p:sp>
        <p:nvSpPr>
          <p:cNvPr id="71" name="Shape 12">
            <a:extLst>
              <a:ext uri="{FF2B5EF4-FFF2-40B4-BE49-F238E27FC236}">
                <a16:creationId xmlns:a16="http://schemas.microsoft.com/office/drawing/2014/main" id="{573BBD65-F49A-342A-C164-08B57BDD2D5A}"/>
              </a:ext>
            </a:extLst>
          </p:cNvPr>
          <p:cNvSpPr/>
          <p:nvPr/>
        </p:nvSpPr>
        <p:spPr>
          <a:xfrm>
            <a:off x="3963924" y="1548415"/>
            <a:ext cx="1051560" cy="1051560"/>
          </a:xfrm>
          <a:prstGeom prst="ellipse">
            <a:avLst/>
          </a:prstGeom>
          <a:solidFill>
            <a:srgbClr val="F2F5FA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3" name="Text 8">
            <a:extLst>
              <a:ext uri="{FF2B5EF4-FFF2-40B4-BE49-F238E27FC236}">
                <a16:creationId xmlns:a16="http://schemas.microsoft.com/office/drawing/2014/main" id="{5BE4ECC5-D66D-18B4-211B-B4F39FADBE2A}"/>
              </a:ext>
            </a:extLst>
          </p:cNvPr>
          <p:cNvSpPr txBox="1"/>
          <p:nvPr/>
        </p:nvSpPr>
        <p:spPr>
          <a:xfrm>
            <a:off x="3973438" y="1534792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</a:rPr>
              <a:t>2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Hasta dónde nos comprometemos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303520" cy="3977640"/>
          </a:xfrm>
          <a:prstGeom prst="roundRect">
            <a:avLst>
              <a:gd name="adj" fmla="val 1379"/>
            </a:avLst>
          </a:prstGeom>
          <a:solidFill>
            <a:srgbClr val="E7F2EC"/>
          </a:solidFill>
          <a:ln w="9525">
            <a:solidFill>
              <a:srgbClr val="2E7D5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914400" y="16916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2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COMPROMETIDO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32688" y="2194560"/>
            <a:ext cx="182880" cy="18288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 txBox="1"/>
          <p:nvPr/>
        </p:nvSpPr>
        <p:spPr>
          <a:xfrm>
            <a:off x="1261872" y="212140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estructurado con datos verificables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32688" y="2706624"/>
            <a:ext cx="182880" cy="18288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Text 7"/>
          <p:cNvSpPr txBox="1"/>
          <p:nvPr/>
        </p:nvSpPr>
        <p:spPr>
          <a:xfrm>
            <a:off x="1261872" y="263347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corporativos europeos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32688" y="3218688"/>
            <a:ext cx="182880" cy="18288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 txBox="1"/>
          <p:nvPr/>
        </p:nvSpPr>
        <p:spPr>
          <a:xfrm>
            <a:off x="1261872" y="314553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</a:t>
            </a:r>
            <a:r>
              <a:rPr lang="en-US" sz="12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noticias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32688" y="3730752"/>
            <a:ext cx="182880" cy="18288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Text 11"/>
          <p:cNvSpPr txBox="1"/>
          <p:nvPr/>
        </p:nvSpPr>
        <p:spPr>
          <a:xfrm>
            <a:off x="1261872" y="365760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en tiempo real </a:t>
            </a:r>
            <a:r>
              <a:rPr lang="en-US" sz="1250" dirty="0" err="1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 dashboard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32688" y="4242816"/>
            <a:ext cx="182880" cy="18288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 txBox="1"/>
          <p:nvPr/>
        </p:nvSpPr>
        <p:spPr>
          <a:xfrm>
            <a:off x="1261872" y="416966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automática por correo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32688" y="4754880"/>
            <a:ext cx="182880" cy="18288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Text 15"/>
          <p:cNvSpPr txBox="1"/>
          <p:nvPr/>
        </p:nvSpPr>
        <p:spPr>
          <a:xfrm>
            <a:off x="1261872" y="468172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técnica saneada, seguridad y pruebas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45352" y="1481328"/>
            <a:ext cx="5303520" cy="3977640"/>
          </a:xfrm>
          <a:prstGeom prst="roundRect">
            <a:avLst>
              <a:gd name="adj" fmla="val 1379"/>
            </a:avLst>
          </a:prstGeom>
          <a:solidFill>
            <a:srgbClr val="FBF3E2"/>
          </a:solidFill>
          <a:ln w="9525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Text 17"/>
          <p:cNvSpPr txBox="1"/>
          <p:nvPr/>
        </p:nvSpPr>
        <p:spPr>
          <a:xfrm>
            <a:off x="6519672" y="16916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2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EXTENSIONES CONDICIONADAS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537960" y="21945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1" name="Text 19"/>
          <p:cNvSpPr txBox="1"/>
          <p:nvPr/>
        </p:nvSpPr>
        <p:spPr>
          <a:xfrm>
            <a:off x="6867144" y="212140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de pagos en ambiente de pruebas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524337" y="2868603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5" name="Text 23"/>
          <p:cNvSpPr txBox="1"/>
          <p:nvPr/>
        </p:nvSpPr>
        <p:spPr>
          <a:xfrm>
            <a:off x="6887764" y="279993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Personalización visual por cliente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37960" y="3494408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7" name="Text 25"/>
          <p:cNvSpPr txBox="1"/>
          <p:nvPr/>
        </p:nvSpPr>
        <p:spPr>
          <a:xfrm>
            <a:off x="6867144" y="34281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pública para clientes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537960" y="40233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abordan solo si el alcance comprometido está cerrado al término del Sprint 5. En caso contrario se documentan como trabajo futuro, con su estimación.</a:t>
            </a:r>
            <a:endParaRPr lang="en-US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40080" y="5623560"/>
            <a:ext cx="10881360" cy="777240"/>
          </a:xfrm>
          <a:prstGeom prst="roundRect">
            <a:avLst>
              <a:gd name="adj" fmla="val 7059"/>
            </a:avLst>
          </a:prstGeom>
          <a:solidFill>
            <a:srgbClr val="1E2761"/>
          </a:solidFill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0" name="Text 28"/>
          <p:cNvSpPr txBox="1"/>
          <p:nvPr/>
        </p:nvSpPr>
        <p:spPr>
          <a:xfrm>
            <a:off x="932688" y="56235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distinción no es una precaución formal: quedan 12 semanas efectivas de construcción y el diagnóstico estima 12. El control del alcance es la condición de viabilidad.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PERTINENCIA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Competencias del perfil de egreso que exige el proyecto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30352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896112" y="1719072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 txBox="1"/>
          <p:nvPr/>
        </p:nvSpPr>
        <p:spPr>
          <a:xfrm>
            <a:off x="896112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26464" y="16824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Gestión de proyectos informáticos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864608" y="1719072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Text 7"/>
          <p:cNvSpPr txBox="1"/>
          <p:nvPr/>
        </p:nvSpPr>
        <p:spPr>
          <a:xfrm>
            <a:off x="4864608" y="171907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 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426464" y="2029968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brechas se convierten en un backlog con prioridad, dependencias, responsables e hitos.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1481328"/>
            <a:ext cx="530352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Shape 10"/>
          <p:cNvSpPr/>
          <p:nvPr/>
        </p:nvSpPr>
        <p:spPr>
          <a:xfrm>
            <a:off x="6428232" y="1719072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Text 11"/>
          <p:cNvSpPr txBox="1"/>
          <p:nvPr/>
        </p:nvSpPr>
        <p:spPr>
          <a:xfrm>
            <a:off x="6428232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958584" y="16824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Construcción de modelos de datos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10396728" y="1719072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 txBox="1"/>
          <p:nvPr/>
        </p:nvSpPr>
        <p:spPr>
          <a:xfrm>
            <a:off x="10396728" y="171907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 3 · 5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958584" y="2029968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Estructuras para alertas, trayectoria, registros de empresas y prensa, con trazabilidad de cada fuente.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054096"/>
            <a:ext cx="530352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Shape 17"/>
          <p:cNvSpPr/>
          <p:nvPr/>
        </p:nvSpPr>
        <p:spPr>
          <a:xfrm>
            <a:off x="896112" y="3291840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Text 18"/>
          <p:cNvSpPr txBox="1"/>
          <p:nvPr/>
        </p:nvSpPr>
        <p:spPr>
          <a:xfrm>
            <a:off x="896112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426464" y="32552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Desarrollo e integración de sistemas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864608" y="3291840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3" name="Text 21"/>
          <p:cNvSpPr txBox="1"/>
          <p:nvPr/>
        </p:nvSpPr>
        <p:spPr>
          <a:xfrm>
            <a:off x="4864608" y="32918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 4 · 5 · 6 · 7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426464" y="3602736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Cambios </a:t>
            </a:r>
            <a:r>
              <a:rPr lang="en-US" sz="1100" dirty="0" err="1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frontend, el backend, </a:t>
            </a:r>
            <a:r>
              <a:rPr lang="en-US" sz="1100" dirty="0" err="1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</a:t>
            </a: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los servicios externos, sobre una base heredada.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72200" y="3054096"/>
            <a:ext cx="530352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6" name="Shape 24"/>
          <p:cNvSpPr/>
          <p:nvPr/>
        </p:nvSpPr>
        <p:spPr>
          <a:xfrm>
            <a:off x="6428232" y="3291840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7" name="Text 25"/>
          <p:cNvSpPr txBox="1"/>
          <p:nvPr/>
        </p:nvSpPr>
        <p:spPr>
          <a:xfrm>
            <a:off x="6428232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958584" y="32552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Pruebas de validación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10396728" y="3291840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0" name="Text 28"/>
          <p:cNvSpPr txBox="1"/>
          <p:nvPr/>
        </p:nvSpPr>
        <p:spPr>
          <a:xfrm>
            <a:off x="10396728" y="32918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 2 · 8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958584" y="3602736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de sesión, separación de datos entre empresas, créditos, fuentes y fallos de </a:t>
            </a:r>
            <a:r>
              <a:rPr lang="en-US" sz="1100" dirty="0" err="1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</a:t>
            </a: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0080" y="4709160"/>
            <a:ext cx="10881360" cy="1463040"/>
          </a:xfrm>
          <a:prstGeom prst="roundRect">
            <a:avLst>
              <a:gd name="adj" fmla="val 3750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3" name="Text 31"/>
          <p:cNvSpPr txBox="1"/>
          <p:nvPr/>
        </p:nvSpPr>
        <p:spPr>
          <a:xfrm>
            <a:off x="932688" y="48646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ESTE PROYECTO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932688" y="5138928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Continuar un sistema construido por otro equipo obliga a comprender código heredado, detectar diferencias entre la documentación y la implementación, priorizar deuda técnica y corregir riesgos sin romper lo que funciona. Es la situación más frecuente en el ejercicio profesional y la menos frecuente en un proyecto académico.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FACTIBILIDAD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posible, y por eso el alcance está acotado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 w="952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efectivas de construcción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035808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18 semanas, cuatro son de definición y dos de cierre. El diagnóstico estima 12 de trabajo: holgura nula.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1148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3891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de código · base de datos y caché · servidor de pruebas · cuentas de Google y Microsoft · proveedor de correo · claves de acceso a los servicios externos y al modelo de lenguaje.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14813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Y CÓMO SE MITIGAN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06240" y="1810512"/>
            <a:ext cx="7342632" cy="804672"/>
          </a:xfrm>
          <a:prstGeom prst="roundRect">
            <a:avLst>
              <a:gd name="adj" fmla="val 6818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Shape 10"/>
          <p:cNvSpPr/>
          <p:nvPr/>
        </p:nvSpPr>
        <p:spPr>
          <a:xfrm>
            <a:off x="4407408" y="2121408"/>
            <a:ext cx="182880" cy="18288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Text 11"/>
          <p:cNvSpPr txBox="1"/>
          <p:nvPr/>
        </p:nvSpPr>
        <p:spPr>
          <a:xfrm>
            <a:off x="4718304" y="189280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externos con precios y límites cambiantes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046720" y="189280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proveedores en el Sprint 0; limitar el consumo.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06240" y="2706624"/>
            <a:ext cx="7342632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Shape 14"/>
          <p:cNvSpPr/>
          <p:nvPr/>
        </p:nvSpPr>
        <p:spPr>
          <a:xfrm>
            <a:off x="4407408" y="3017520"/>
            <a:ext cx="182880" cy="18288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Text 15"/>
          <p:cNvSpPr txBox="1"/>
          <p:nvPr/>
        </p:nvSpPr>
        <p:spPr>
          <a:xfrm>
            <a:off x="4718304" y="27889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 con personas homónimas o datos incompletos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046720" y="27889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la estructura y los enlaces; declarar el dato ausente.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06240" y="3602736"/>
            <a:ext cx="7342632" cy="804672"/>
          </a:xfrm>
          <a:prstGeom prst="roundRect">
            <a:avLst>
              <a:gd name="adj" fmla="val 6818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Shape 18"/>
          <p:cNvSpPr/>
          <p:nvPr/>
        </p:nvSpPr>
        <p:spPr>
          <a:xfrm>
            <a:off x="4407408" y="3913632"/>
            <a:ext cx="182880" cy="18288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1" name="Text 19"/>
          <p:cNvSpPr txBox="1"/>
          <p:nvPr/>
        </p:nvSpPr>
        <p:spPr>
          <a:xfrm>
            <a:off x="4718304" y="368503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inteligencia artificial afirma cosas incorrectas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8046720" y="368503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prueba y obligación de citar la fuente.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206240" y="4498848"/>
            <a:ext cx="7342632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4" name="Shape 22"/>
          <p:cNvSpPr/>
          <p:nvPr/>
        </p:nvSpPr>
        <p:spPr>
          <a:xfrm>
            <a:off x="4407408" y="4809744"/>
            <a:ext cx="182880" cy="18288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5" name="Text 23"/>
          <p:cNvSpPr txBox="1"/>
          <p:nvPr/>
        </p:nvSpPr>
        <p:spPr>
          <a:xfrm>
            <a:off x="4718304" y="4581144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Privacidad y acceso a credenciales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046720" y="458114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primero; ambientes de prueba.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206240" y="5394960"/>
            <a:ext cx="7342632" cy="804672"/>
          </a:xfrm>
          <a:prstGeom prst="roundRect">
            <a:avLst>
              <a:gd name="adj" fmla="val 6818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8" name="Shape 26"/>
          <p:cNvSpPr/>
          <p:nvPr/>
        </p:nvSpPr>
        <p:spPr>
          <a:xfrm>
            <a:off x="4407408" y="5705856"/>
            <a:ext cx="182880" cy="18288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9" name="Text 27"/>
          <p:cNvSpPr txBox="1"/>
          <p:nvPr/>
        </p:nvSpPr>
        <p:spPr>
          <a:xfrm>
            <a:off x="4718304" y="5477256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alcance se desborda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046720" y="547725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Extensiones condicionadas; revisión en cada hito.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Y EVIDENCIAS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responde por qué, y qué se entrega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8328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877824" y="1691640"/>
            <a:ext cx="420624" cy="4206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2F5FA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 txBox="1"/>
          <p:nvPr/>
        </p:nvSpPr>
        <p:spPr>
          <a:xfrm>
            <a:off x="877824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08176" y="170078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Felipe Orellana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408176" y="193852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y agentes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23317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de la solución, búsqueda en registros europeos y prensa, redacción del informe y avance en tiempo real.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481328"/>
            <a:ext cx="338328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Shape 9"/>
          <p:cNvSpPr/>
          <p:nvPr/>
        </p:nvSpPr>
        <p:spPr>
          <a:xfrm>
            <a:off x="4535424" y="1691640"/>
            <a:ext cx="420624" cy="420624"/>
          </a:xfrm>
          <a:prstGeom prst="ellipse">
            <a:avLst/>
          </a:prstGeom>
          <a:solidFill>
            <a:srgbClr val="1D7A6E"/>
          </a:solidFill>
          <a:ln w="12700">
            <a:solidFill>
              <a:srgbClr val="1D7A6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Text 10"/>
          <p:cNvSpPr txBox="1"/>
          <p:nvPr/>
        </p:nvSpPr>
        <p:spPr>
          <a:xfrm>
            <a:off x="4535424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065776" y="170078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Darío García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065776" y="193852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e integraciones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35424" y="23317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avance en tiempo real, envío por correo y automatización desde el calendario.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955280" y="1481328"/>
            <a:ext cx="338328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Shape 15"/>
          <p:cNvSpPr/>
          <p:nvPr/>
        </p:nvSpPr>
        <p:spPr>
          <a:xfrm>
            <a:off x="8193024" y="1691640"/>
            <a:ext cx="420624" cy="420624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8" name="Text 16"/>
          <p:cNvSpPr txBox="1"/>
          <p:nvPr/>
        </p:nvSpPr>
        <p:spPr>
          <a:xfrm>
            <a:off x="8193024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723376" y="170078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Felipe Docmac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723376" y="193852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y calidad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193024" y="23317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Consolidación técnica, control de accesos, auditoría y plan de pruebas.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3401568"/>
            <a:ext cx="5303520" cy="2514600"/>
          </a:xfrm>
          <a:prstGeom prst="roundRect">
            <a:avLst>
              <a:gd name="adj" fmla="val 2182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3" name="Text 21"/>
          <p:cNvSpPr txBox="1"/>
          <p:nvPr/>
        </p:nvSpPr>
        <p:spPr>
          <a:xfrm>
            <a:off x="914400" y="358444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EVIDENCIAS DE AVANCE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39136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Diagnóstico y priorización de brechas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427939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Informe de deuda técnica: inicio y entrega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14400" y="464515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Documento de diseño de la solución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501091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50" dirty="0" err="1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</a:t>
            </a:r>
            <a:r>
              <a:rPr lang="en-US" sz="11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1150" dirty="0" err="1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1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</a:t>
            </a:r>
            <a:r>
              <a:rPr lang="en-US" sz="11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operativos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537667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Dashboard con avance en tiempo real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45352" y="3401568"/>
            <a:ext cx="5303520" cy="2514600"/>
          </a:xfrm>
          <a:prstGeom prst="roundRect">
            <a:avLst>
              <a:gd name="adj" fmla="val 2182"/>
            </a:avLst>
          </a:prstGeom>
          <a:solidFill>
            <a:srgbClr val="F2F5FA"/>
          </a:solidFill>
          <a:ln w="9525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0" name="Text 28"/>
          <p:cNvSpPr txBox="1"/>
          <p:nvPr/>
        </p:nvSpPr>
        <p:spPr>
          <a:xfrm>
            <a:off x="6519672" y="358444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EVIDENCIAS FINALES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6519672" y="39136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Sistema en funcionamiento con envío por correo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6519672" y="427939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Informe de pruebas, seguridad y resultados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519672" y="464515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Documentación técnica y manual de usuario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519672" y="501091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Informe final y presentación de defensa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evidencia responde a uno o más objetivos específicos y tiene una actividad del plan que la produce.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572000" cy="4572000"/>
          </a:xfrm>
          <a:prstGeom prst="ellipse">
            <a:avLst/>
          </a:prstGeom>
          <a:solidFill>
            <a:srgbClr val="141B45"/>
          </a:solidFill>
          <a:ln w="12700">
            <a:solidFill>
              <a:srgbClr val="141B4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9966960" y="-1097280"/>
            <a:ext cx="3840480" cy="3840480"/>
          </a:xfrm>
          <a:prstGeom prst="ellipse">
            <a:avLst/>
          </a:prstGeom>
          <a:solidFill>
            <a:srgbClr val="141B45"/>
          </a:solidFill>
          <a:ln w="12700">
            <a:solidFill>
              <a:srgbClr val="141B4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UNA FRASE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8600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sistema existe. No cumple lo que promete.</a:t>
            </a:r>
            <a:endParaRPr lang="en-US" sz="3400" dirty="0"/>
          </a:p>
          <a:p>
            <a:pPr marL="0" indent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 es exactamente nuestro trabajo.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3977640"/>
            <a:ext cx="1280160" cy="32004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 txBox="1"/>
          <p:nvPr/>
        </p:nvSpPr>
        <p:spPr>
          <a:xfrm>
            <a:off x="640080" y="42976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94360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Project Dossier  ·  Alloxentric  ·  Fase 1, septiembre de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1600</Words>
  <Application>Microsoft Office PowerPoint</Application>
  <PresentationFormat>Panorámica</PresentationFormat>
  <Paragraphs>289</Paragraphs>
  <Slides>13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FELIPE ANDRES DOCMAC BRAVO</cp:lastModifiedBy>
  <cp:revision>10</cp:revision>
  <dcterms:created xsi:type="dcterms:W3CDTF">2026-09-01T22:03:39Z</dcterms:created>
  <dcterms:modified xsi:type="dcterms:W3CDTF">2026-09-02T20:19:02Z</dcterms:modified>
</cp:coreProperties>
</file>