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ga2DcdyWFUz43NtEx4zZ0Iuo7T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Presentación de la Fase 1. Proyecto de continuidad para la empresa Alloxentric.</a:t>
            </a:r>
            <a:endParaRPr/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dato de 20 minutos viene del PRD del producto. Declararlo como meta por validar, no como hallazgo propio.</a:t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Insistir: el porcentaje es juicio técnico. Lo que sí está verificado son los hallazgos de código.</a:t>
            </a:r>
            <a:endParaRPr/>
          </a:p>
        </p:txBody>
      </p:sp>
      <p:sp>
        <p:nvSpPr>
          <p:cNvPr id="114" name="Google Shape;114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brecha se comprobó en el código. El POLL_MS = 3000 es literal.</a:t>
            </a:r>
            <a:endParaRPr/>
          </a:p>
        </p:txBody>
      </p:sp>
      <p:sp>
        <p:nvSpPr>
          <p:cNvPr id="155" name="Google Shape;155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3" name="Google Shape;223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Sprint 0 dura cuatro semanas y coincide con la Fase 1. Los siete siguientes son de dos semanas.</a:t>
            </a:r>
            <a:endParaRPr/>
          </a:p>
        </p:txBody>
      </p:sp>
      <p:sp>
        <p:nvSpPr>
          <p:cNvPr id="224" name="Google Shape;224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2" name="Google Shape;292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Nuestro aporte será completar un MVP que centralice y contraste fuentes, genere dossiers trazables y entregue información útil antes de una reunión. Buscaremos reducir una preparación cercana a 20 minutos a menos de 30 segundos de esfuerzo activo. Así podremos ahorrar tiempo y mejorar la calidad de la preparación. Las integraciones sensibles se validarán en ambientes de prueba.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93" name="Google Shape;293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4" name="Google Shape;324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2" name="Google Shape;362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Comencemos con nuestras </a:t>
            </a:r>
            <a:r>
              <a:rPr b="1" lang="en-US" sz="1100">
                <a:solidFill>
                  <a:schemeClr val="dk1"/>
                </a:solidFill>
              </a:rPr>
              <a:t>Fortalezas</a:t>
            </a:r>
            <a:r>
              <a:rPr lang="en-US" sz="1100">
                <a:solidFill>
                  <a:schemeClr val="dk1"/>
                </a:solidFill>
              </a:rPr>
              <a:t>. Actualmente, contamos con una base técnica muy sólida. Tenemos un dashboard y un backend multiempresa que ya están operativos. La arquitectura está respaldada por autenticación JWT, control de roles, PostgreSQL, Redis y un sistema de cola de trabajos. Además, ya tenemos integraciones clave funcionando, como la generación de dossiers para personas y empresas en UK y USA, junto con sincronización para calendarios de Google y Microsoft. Lo más importante de esta etapa es que nuestra arquitectura modular nos permite aplicar mejoras por frentes separados sin romper el sistema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Toda esta base nos abre </a:t>
            </a:r>
            <a:r>
              <a:rPr b="1" lang="en-US" sz="1100">
                <a:solidFill>
                  <a:schemeClr val="dk1"/>
                </a:solidFill>
              </a:rPr>
              <a:t>Oportunidades</a:t>
            </a:r>
            <a:r>
              <a:rPr lang="en-US" sz="1100">
                <a:solidFill>
                  <a:schemeClr val="dk1"/>
                </a:solidFill>
              </a:rPr>
              <a:t> muy claras. A nivel externo, nuestro MVP resuelve una necesidad laboral concreta aprovechando registros oficiales y servicios especializados. A nivel de desarrollo, contar con entornos de prueba como los de Stripe y tener despliegues configurables significa que podemos validar todo nuestro flujo de trabajo sin riesgo de hacer cobros reales y sin exponer datos sensibles de producción 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63" name="Google Shape;363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6" name="Google Shape;396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Toda esta base nos abre </a:t>
            </a:r>
            <a:r>
              <a:rPr b="1" lang="en-US" sz="1100">
                <a:solidFill>
                  <a:schemeClr val="dk1"/>
                </a:solidFill>
              </a:rPr>
              <a:t>Oportunidades</a:t>
            </a:r>
            <a:r>
              <a:rPr lang="en-US" sz="1100">
                <a:solidFill>
                  <a:schemeClr val="dk1"/>
                </a:solidFill>
              </a:rPr>
              <a:t> muy claras. A nivel externo, nuestro MVP resuelve una necesidad laboral concreta aprovechando registros oficiales y servicios especializados. A nivel de desarrollo, contar con entornos de prueba como los de Stripe y tener despliegues configurables significa que podemos validar todo nuestro flujo de trabajo sin riesgo de hacer cobros reales y sin exponer datos sensibles de producción.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Por supuesto, también tenemos </a:t>
            </a:r>
            <a:r>
              <a:rPr b="1" lang="en-US" sz="1100">
                <a:solidFill>
                  <a:schemeClr val="dk1"/>
                </a:solidFill>
              </a:rPr>
              <a:t>Debilidades</a:t>
            </a:r>
            <a:r>
              <a:rPr lang="en-US" sz="1100">
                <a:solidFill>
                  <a:schemeClr val="dk1"/>
                </a:solidFill>
              </a:rPr>
              <a:t> internas que estamos priorizando. Actualmente, la documentación técnica no refleja al cien por ciento las decisiones más recientes, y nuestra salida de datos sigue estando en formato Markdown. Aún nos falta implementar modelos más estructurados, correos transaccionales, auditoría, el cierre de la integración de Stripe y un pipeline de Integración Continua con migraciones automatizadas. También quiero ser transparente: existen opciones en el frontend que hoy están simuladas y riesgos de seguridad pendientes que debemos cerrar antes de presentar esas funciones como terminadas 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97" name="Google Shape;397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5" name="Google Shape;435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ithub.com/darygod/capstone-dossier-orellana-docmac-garcia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8778240" y="-1371600"/>
            <a:ext cx="4937760" cy="4937760"/>
          </a:xfrm>
          <a:prstGeom prst="ellipse">
            <a:avLst/>
          </a:prstGeom>
          <a:solidFill>
            <a:srgbClr val="141B45"/>
          </a:solidFill>
          <a:ln cap="flat" cmpd="sng" w="12700">
            <a:solidFill>
              <a:srgbClr val="141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10241280" y="4206240"/>
            <a:ext cx="3108960" cy="3108960"/>
          </a:xfrm>
          <a:prstGeom prst="ellipse">
            <a:avLst/>
          </a:prstGeom>
          <a:solidFill>
            <a:srgbClr val="141B45"/>
          </a:solidFill>
          <a:ln cap="flat" cmpd="sng" w="12700">
            <a:solidFill>
              <a:srgbClr val="141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 txBox="1"/>
          <p:nvPr/>
        </p:nvSpPr>
        <p:spPr>
          <a:xfrm>
            <a:off x="640080" y="13716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PORTAFOLIO DE TÍTULO  ·  FASE 1  ·  DEFINICIÓN DEL PROYECTO APT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 txBox="1"/>
          <p:nvPr/>
        </p:nvSpPr>
        <p:spPr>
          <a:xfrm>
            <a:off x="640080" y="1783080"/>
            <a:ext cx="10424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lang="en-US" sz="4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Continuidad Project Dossier</a:t>
            </a:r>
            <a:endParaRPr sz="4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 txBox="1"/>
          <p:nvPr/>
        </p:nvSpPr>
        <p:spPr>
          <a:xfrm>
            <a:off x="640080" y="2697480"/>
            <a:ext cx="8778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700"/>
              <a:buFont typeface="Calibri"/>
              <a:buNone/>
            </a:pPr>
            <a:r>
              <a:rPr lang="en-US" sz="17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Cierre de las brechas que impiden la operación del sistema con clientes reales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640080" y="3429000"/>
            <a:ext cx="1280160" cy="32004"/>
          </a:xfrm>
          <a:prstGeom prst="rect">
            <a:avLst/>
          </a:prstGeom>
          <a:solidFill>
            <a:srgbClr val="B7791F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640080" y="3749040"/>
            <a:ext cx="10058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Felipe Orellana Álvarez    ·    Darío García Avendaño    ·    Felipe Docmac Bravo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640080" y="4800600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CLIENTE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640080" y="5029200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Alloxentric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 txBox="1"/>
          <p:nvPr/>
        </p:nvSpPr>
        <p:spPr>
          <a:xfrm>
            <a:off x="3246120" y="4800600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CARRERA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 txBox="1"/>
          <p:nvPr/>
        </p:nvSpPr>
        <p:spPr>
          <a:xfrm>
            <a:off x="3246120" y="5029200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Ingeniería en Informática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 txBox="1"/>
          <p:nvPr/>
        </p:nvSpPr>
        <p:spPr>
          <a:xfrm>
            <a:off x="5852160" y="4800600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SEDE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 txBox="1"/>
          <p:nvPr/>
        </p:nvSpPr>
        <p:spPr>
          <a:xfrm>
            <a:off x="5852160" y="5029200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Viña del Mar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 txBox="1"/>
          <p:nvPr/>
        </p:nvSpPr>
        <p:spPr>
          <a:xfrm>
            <a:off x="8458200" y="4800600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PROFESOR GUÍA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 txBox="1"/>
          <p:nvPr/>
        </p:nvSpPr>
        <p:spPr>
          <a:xfrm>
            <a:off x="8458200" y="5029200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Cristian Molina Pedernera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 txBox="1"/>
          <p:nvPr/>
        </p:nvSpPr>
        <p:spPr>
          <a:xfrm>
            <a:off x="640080" y="59436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Septiembre de 2026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" name="Google Shape;28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575" y="5683750"/>
            <a:ext cx="3552104" cy="79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/>
        </p:nvSpPr>
        <p:spPr>
          <a:xfrm>
            <a:off x="640080" y="384048"/>
            <a:ext cx="10058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CONTEXTO</a:t>
            </a:r>
            <a:endParaRPr/>
          </a:p>
        </p:txBody>
      </p:sp>
      <p:sp>
        <p:nvSpPr>
          <p:cNvPr id="34" name="Google Shape;34;p2"/>
          <p:cNvSpPr txBox="1"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Un proyecto de continuidad, no de creación</a:t>
            </a:r>
            <a:endParaRPr b="1" sz="32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40080" y="2487168"/>
            <a:ext cx="3502152" cy="1965960"/>
          </a:xfrm>
          <a:prstGeom prst="roundRect">
            <a:avLst>
              <a:gd fmla="val 4000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932688" y="2761488"/>
            <a:ext cx="457200" cy="64008"/>
          </a:xfrm>
          <a:prstGeom prst="roundRect">
            <a:avLst>
              <a:gd fmla="val 16667" name="adj"/>
            </a:avLst>
          </a:prstGeom>
          <a:solidFill>
            <a:srgbClr val="B779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 txBox="1"/>
          <p:nvPr/>
        </p:nvSpPr>
        <p:spPr>
          <a:xfrm>
            <a:off x="932688" y="3017520"/>
            <a:ext cx="29169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LA EMPRESA</a:t>
            </a:r>
            <a:endParaRPr/>
          </a:p>
        </p:txBody>
      </p:sp>
      <p:sp>
        <p:nvSpPr>
          <p:cNvPr id="38" name="Google Shape;38;p2"/>
          <p:cNvSpPr txBox="1"/>
          <p:nvPr/>
        </p:nvSpPr>
        <p:spPr>
          <a:xfrm>
            <a:off x="932688" y="3401568"/>
            <a:ext cx="291693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7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Alloxentric desarrolla Project Dossier,</a:t>
            </a:r>
            <a:endParaRPr/>
          </a:p>
          <a:p>
            <a:pPr indent="0" lvl="0" marL="0" marR="0" rtl="0" algn="l">
              <a:lnSpc>
                <a:spcPct val="1517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un asistente que prepara reuniones de trabajo.</a:t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4343400" y="2487168"/>
            <a:ext cx="3502152" cy="1965960"/>
          </a:xfrm>
          <a:prstGeom prst="roundRect">
            <a:avLst>
              <a:gd fmla="val 4000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636008" y="2761488"/>
            <a:ext cx="457200" cy="64008"/>
          </a:xfrm>
          <a:prstGeom prst="roundRect">
            <a:avLst>
              <a:gd fmla="val 16667" name="adj"/>
            </a:avLst>
          </a:prstGeom>
          <a:solidFill>
            <a:srgbClr val="B779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 txBox="1"/>
          <p:nvPr/>
        </p:nvSpPr>
        <p:spPr>
          <a:xfrm>
            <a:off x="4636008" y="3017520"/>
            <a:ext cx="29169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EL ESTADO</a:t>
            </a:r>
            <a:endParaRPr/>
          </a:p>
        </p:txBody>
      </p:sp>
      <p:sp>
        <p:nvSpPr>
          <p:cNvPr id="42" name="Google Shape;42;p2"/>
          <p:cNvSpPr txBox="1"/>
          <p:nvPr/>
        </p:nvSpPr>
        <p:spPr>
          <a:xfrm>
            <a:off x="4636008" y="3401568"/>
            <a:ext cx="291693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7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Quedó incompleto frente a lo que</a:t>
            </a:r>
            <a:endParaRPr/>
          </a:p>
          <a:p>
            <a:pPr indent="0" lvl="0" marL="0" marR="0" rtl="0" algn="l">
              <a:lnSpc>
                <a:spcPct val="1517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su propia especificación promete.</a:t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8046719" y="2487168"/>
            <a:ext cx="3502152" cy="1965960"/>
          </a:xfrm>
          <a:prstGeom prst="roundRect">
            <a:avLst>
              <a:gd fmla="val 4000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8339327" y="2761488"/>
            <a:ext cx="457200" cy="64008"/>
          </a:xfrm>
          <a:prstGeom prst="roundRect">
            <a:avLst>
              <a:gd fmla="val 16667" name="adj"/>
            </a:avLst>
          </a:prstGeom>
          <a:solidFill>
            <a:srgbClr val="B779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 txBox="1"/>
          <p:nvPr/>
        </p:nvSpPr>
        <p:spPr>
          <a:xfrm>
            <a:off x="8339327" y="3017520"/>
            <a:ext cx="29169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NUESTRO ROL</a:t>
            </a:r>
            <a:endParaRPr/>
          </a:p>
        </p:txBody>
      </p:sp>
      <p:sp>
        <p:nvSpPr>
          <p:cNvPr id="46" name="Google Shape;46;p2"/>
          <p:cNvSpPr txBox="1"/>
          <p:nvPr/>
        </p:nvSpPr>
        <p:spPr>
          <a:xfrm>
            <a:off x="8339327" y="3401568"/>
            <a:ext cx="291693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7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Continuarlo hasta dejarlo operativo</a:t>
            </a:r>
            <a:endParaRPr/>
          </a:p>
          <a:p>
            <a:pPr indent="0" lvl="0" marL="0" marR="0" rtl="0" algn="l">
              <a:lnSpc>
                <a:spcPct val="1517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con clientes reales.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 txBox="1"/>
          <p:nvPr/>
        </p:nvSpPr>
        <p:spPr>
          <a:xfrm>
            <a:off x="640080" y="384048"/>
            <a:ext cx="10058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EL PROBLEMA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 txBox="1"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Prepararse para una reunión externa cuesta caro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 txBox="1"/>
          <p:nvPr/>
        </p:nvSpPr>
        <p:spPr>
          <a:xfrm>
            <a:off x="640080" y="1508760"/>
            <a:ext cx="5989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Los antecedentes que se necesitan viven en sitios distintos. Buscarlos es manual, se repite en cada reunión y rara vez alcanza para revisar todo.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640080" y="2843784"/>
            <a:ext cx="402336" cy="402336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 txBox="1"/>
          <p:nvPr/>
        </p:nvSpPr>
        <p:spPr>
          <a:xfrm>
            <a:off x="640080" y="284378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 txBox="1"/>
          <p:nvPr/>
        </p:nvSpPr>
        <p:spPr>
          <a:xfrm>
            <a:off x="1207008" y="2788920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Fuentes dispersas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 txBox="1"/>
          <p:nvPr/>
        </p:nvSpPr>
        <p:spPr>
          <a:xfrm>
            <a:off x="1207008" y="3081528"/>
            <a:ext cx="5394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Perfiles, registros y prensa, cada uno por separado.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640080" y="3849624"/>
            <a:ext cx="402336" cy="402336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 txBox="1"/>
          <p:nvPr/>
        </p:nvSpPr>
        <p:spPr>
          <a:xfrm>
            <a:off x="640080" y="384962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 txBox="1"/>
          <p:nvPr/>
        </p:nvSpPr>
        <p:spPr>
          <a:xfrm>
            <a:off x="1207008" y="3794760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Datos que se contradicen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 txBox="1"/>
          <p:nvPr/>
        </p:nvSpPr>
        <p:spPr>
          <a:xfrm>
            <a:off x="1207008" y="4087368"/>
            <a:ext cx="5394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El cargo declarado no siempre coincide con el registro oficial.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640080" y="4855464"/>
            <a:ext cx="402336" cy="402336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 txBox="1"/>
          <p:nvPr/>
        </p:nvSpPr>
        <p:spPr>
          <a:xfrm>
            <a:off x="640080" y="485546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1207008" y="4800600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Señales que nadie revisa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 txBox="1"/>
          <p:nvPr/>
        </p:nvSpPr>
        <p:spPr>
          <a:xfrm>
            <a:off x="1207008" y="5093208"/>
            <a:ext cx="5394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Insolvencias y litigios quedan fuera.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7178040" y="1508760"/>
            <a:ext cx="4370832" cy="2788920"/>
          </a:xfrm>
          <a:prstGeom prst="roundRect">
            <a:avLst>
              <a:gd fmla="val 1967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 txBox="1"/>
          <p:nvPr/>
        </p:nvSpPr>
        <p:spPr>
          <a:xfrm>
            <a:off x="7406640" y="1828800"/>
            <a:ext cx="3931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6200"/>
              <a:buFont typeface="Cambria"/>
              <a:buNone/>
            </a:pPr>
            <a:r>
              <a:rPr b="1" lang="en-US" sz="6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~20 min</a:t>
            </a:r>
            <a:endParaRPr sz="6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 txBox="1"/>
          <p:nvPr/>
        </p:nvSpPr>
        <p:spPr>
          <a:xfrm>
            <a:off x="7406640" y="278892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de preparación por reunión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 txBox="1"/>
          <p:nvPr/>
        </p:nvSpPr>
        <p:spPr>
          <a:xfrm>
            <a:off x="7406640" y="3200400"/>
            <a:ext cx="3931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Meta del producto: menos de 30 segundos.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Por medir, no demostrado.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7178040" y="4480560"/>
            <a:ext cx="4370832" cy="1234440"/>
          </a:xfrm>
          <a:prstGeom prst="roundRect">
            <a:avLst>
              <a:gd fmla="val 4444" name="adj"/>
            </a:avLst>
          </a:prstGeom>
          <a:solidFill>
            <a:srgbClr val="E7F2EC"/>
          </a:solidFill>
          <a:ln cap="flat" cmpd="sng" w="9525">
            <a:solidFill>
              <a:srgbClr val="2E7D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 txBox="1"/>
          <p:nvPr/>
        </p:nvSpPr>
        <p:spPr>
          <a:xfrm>
            <a:off x="7406640" y="4480560"/>
            <a:ext cx="39319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E7D5B"/>
                </a:solidFill>
                <a:latin typeface="Calibri"/>
                <a:ea typeface="Calibri"/>
                <a:cs typeface="Calibri"/>
                <a:sym typeface="Calibri"/>
              </a:rPr>
              <a:t>Hoy ese nivel de preparación solo lo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E7D5B"/>
                </a:solidFill>
                <a:latin typeface="Calibri"/>
                <a:ea typeface="Calibri"/>
                <a:cs typeface="Calibri"/>
                <a:sym typeface="Calibri"/>
              </a:rPr>
              <a:t>alcanza quien tiene un asistente dedicado.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 txBox="1"/>
          <p:nvPr/>
        </p:nvSpPr>
        <p:spPr>
          <a:xfrm>
            <a:off x="640080" y="384048"/>
            <a:ext cx="10058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EL PRODUCTO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 txBox="1"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Project Dossier, un asistente de preparación de reuniones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 txBox="1"/>
          <p:nvPr/>
        </p:nvSpPr>
        <p:spPr>
          <a:xfrm>
            <a:off x="640080" y="148132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724"/>
              </a:lnSpc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1450"/>
              <a:buFont typeface="Calibri"/>
              <a:buNone/>
            </a:pPr>
            <a:r>
              <a:rPr lang="en-US" sz="14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Alloxentric desarrolla un sistema que lee el calendario del usuario, busca antecedentes de los participantes en fuentes públicas y entrega un informe breve, con cada dato respaldado por su fuente, antes de que la reunión ocurra.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640080" y="2331720"/>
            <a:ext cx="3383280" cy="1828800"/>
          </a:xfrm>
          <a:prstGeom prst="roundRect">
            <a:avLst>
              <a:gd fmla="val 3000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896112" y="2578608"/>
            <a:ext cx="457200" cy="457200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 txBox="1"/>
          <p:nvPr/>
        </p:nvSpPr>
        <p:spPr>
          <a:xfrm>
            <a:off x="896112" y="25786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 txBox="1"/>
          <p:nvPr/>
        </p:nvSpPr>
        <p:spPr>
          <a:xfrm>
            <a:off x="1463040" y="2606040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Detecta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 txBox="1"/>
          <p:nvPr/>
        </p:nvSpPr>
        <p:spPr>
          <a:xfrm>
            <a:off x="896112" y="3072384"/>
            <a:ext cx="2880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Lee el calendario y reconoce las reuniones con participantes externos.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4041648" y="297180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4297680" y="2331720"/>
            <a:ext cx="3383280" cy="1828800"/>
          </a:xfrm>
          <a:prstGeom prst="roundRect">
            <a:avLst>
              <a:gd fmla="val 3000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4553712" y="2578608"/>
            <a:ext cx="457200" cy="457200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 txBox="1"/>
          <p:nvPr/>
        </p:nvSpPr>
        <p:spPr>
          <a:xfrm>
            <a:off x="4553712" y="25786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 txBox="1"/>
          <p:nvPr/>
        </p:nvSpPr>
        <p:spPr>
          <a:xfrm>
            <a:off x="5120640" y="2606040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Investiga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 txBox="1"/>
          <p:nvPr/>
        </p:nvSpPr>
        <p:spPr>
          <a:xfrm>
            <a:off x="4553712" y="3072384"/>
            <a:ext cx="2880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Consulta registros corporativos oficiales, perfiles profesionales y prensa.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 txBox="1"/>
          <p:nvPr/>
        </p:nvSpPr>
        <p:spPr>
          <a:xfrm>
            <a:off x="7699248" y="297180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7955280" y="2331720"/>
            <a:ext cx="3383280" cy="1828800"/>
          </a:xfrm>
          <a:prstGeom prst="roundRect">
            <a:avLst>
              <a:gd fmla="val 3000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8211312" y="2578608"/>
            <a:ext cx="457200" cy="457200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 txBox="1"/>
          <p:nvPr/>
        </p:nvSpPr>
        <p:spPr>
          <a:xfrm>
            <a:off x="8211312" y="25786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 txBox="1"/>
          <p:nvPr/>
        </p:nvSpPr>
        <p:spPr>
          <a:xfrm>
            <a:off x="8778240" y="2606040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Entrega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 txBox="1"/>
          <p:nvPr/>
        </p:nvSpPr>
        <p:spPr>
          <a:xfrm>
            <a:off x="8211312" y="3072384"/>
            <a:ext cx="2880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Entrega un informe con alertas, trayectoria profesional y las fuentes citadas.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 txBox="1"/>
          <p:nvPr/>
        </p:nvSpPr>
        <p:spPr>
          <a:xfrm>
            <a:off x="640080" y="4526280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A QUIÉNES SIRVE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640080" y="4828032"/>
            <a:ext cx="2044598" cy="457200"/>
          </a:xfrm>
          <a:prstGeom prst="roundRect">
            <a:avLst>
              <a:gd fmla="val 50000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 txBox="1"/>
          <p:nvPr/>
        </p:nvSpPr>
        <p:spPr>
          <a:xfrm>
            <a:off x="731520" y="4828032"/>
            <a:ext cx="186171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Ejecutivos y gerentes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2849270" y="4828032"/>
            <a:ext cx="2044598" cy="457200"/>
          </a:xfrm>
          <a:prstGeom prst="roundRect">
            <a:avLst>
              <a:gd fmla="val 50000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 txBox="1"/>
          <p:nvPr/>
        </p:nvSpPr>
        <p:spPr>
          <a:xfrm>
            <a:off x="2940710" y="4828032"/>
            <a:ext cx="186171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Equipos comerciales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5058461" y="4828032"/>
            <a:ext cx="2044598" cy="457200"/>
          </a:xfrm>
          <a:prstGeom prst="roundRect">
            <a:avLst>
              <a:gd fmla="val 50000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 txBox="1"/>
          <p:nvPr/>
        </p:nvSpPr>
        <p:spPr>
          <a:xfrm>
            <a:off x="5149901" y="4828032"/>
            <a:ext cx="186171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Reclutadores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7267651" y="4828032"/>
            <a:ext cx="2044598" cy="457200"/>
          </a:xfrm>
          <a:prstGeom prst="roundRect">
            <a:avLst>
              <a:gd fmla="val 50000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7359091" y="4828032"/>
            <a:ext cx="186171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Fundadores e inversionistas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9476842" y="4828032"/>
            <a:ext cx="2044598" cy="457200"/>
          </a:xfrm>
          <a:prstGeom prst="roundRect">
            <a:avLst>
              <a:gd fmla="val 50000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 txBox="1"/>
          <p:nvPr/>
        </p:nvSpPr>
        <p:spPr>
          <a:xfrm>
            <a:off x="9568282" y="4828032"/>
            <a:ext cx="186171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Profesionales independientes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40080" y="5486400"/>
            <a:ext cx="10881360" cy="749808"/>
          </a:xfrm>
          <a:prstGeom prst="roundRect">
            <a:avLst>
              <a:gd fmla="val 7317" name="adj"/>
            </a:avLst>
          </a:prstGeom>
          <a:solidFill>
            <a:srgbClr val="FBF3E2"/>
          </a:solidFill>
          <a:ln cap="flat" cmpd="sng" w="9525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896112" y="5486400"/>
            <a:ext cx="103327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Mercado con foco inicial en Reino Unido y Estados Unidos, con expansión prevista a Europa continental. Eso define qué registros de empresas debe cubrir el sistema.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/>
          <p:nvPr/>
        </p:nvSpPr>
        <p:spPr>
          <a:xfrm>
            <a:off x="640080" y="384048"/>
            <a:ext cx="10058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TECNOLOGÍAS</a:t>
            </a:r>
            <a:endParaRPr/>
          </a:p>
        </p:txBody>
      </p:sp>
      <p:sp>
        <p:nvSpPr>
          <p:cNvPr id="117" name="Google Shape;117;p5"/>
          <p:cNvSpPr txBox="1"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Las tecnologías con las que está construido</a:t>
            </a:r>
            <a:endParaRPr b="1" sz="32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8" name="Google Shape;118;p5"/>
          <p:cNvSpPr txBox="1"/>
          <p:nvPr/>
        </p:nvSpPr>
        <p:spPr>
          <a:xfrm>
            <a:off x="640080" y="1463040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El sistema ya está hecho con estas herramientas. No las elegimos nosotros: las heredamos y trabajamos sobre ellas.</a:t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640080" y="1993392"/>
            <a:ext cx="3502152" cy="1481328"/>
          </a:xfrm>
          <a:prstGeom prst="roundRect">
            <a:avLst>
              <a:gd fmla="val 5000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914400" y="2194560"/>
            <a:ext cx="2953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r>
              <a:rPr b="0" lang="en-US" sz="95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  ·  lo que ve el usuario</a:t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914400" y="2523744"/>
            <a:ext cx="618134" cy="265176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Next.js</a:t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1623974" y="2523744"/>
            <a:ext cx="475488" cy="265176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React</a:t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2190902" y="2523744"/>
            <a:ext cx="832104" cy="265176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TypeScript</a:t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914400" y="2834640"/>
            <a:ext cx="974750" cy="265176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Tailwind CSS</a:t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4343400" y="1993392"/>
            <a:ext cx="3502152" cy="1481328"/>
          </a:xfrm>
          <a:prstGeom prst="roundRect">
            <a:avLst>
              <a:gd fmla="val 5000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4617720" y="2194560"/>
            <a:ext cx="2953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r>
              <a:rPr b="0" lang="en-US" sz="95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  ·  el motor que procesa</a:t>
            </a:r>
            <a:endParaRPr b="0" sz="950">
              <a:solidFill>
                <a:srgbClr val="5C66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4617720" y="2523744"/>
            <a:ext cx="546811" cy="265176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5255971" y="2523744"/>
            <a:ext cx="618134" cy="265176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FastAPI</a:t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5965545" y="2523744"/>
            <a:ext cx="832104" cy="265176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SQLAlchemy</a:t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6889089" y="2523744"/>
            <a:ext cx="618134" cy="265176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Uvicorn</a:t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8046719" y="1993392"/>
            <a:ext cx="3502152" cy="1481328"/>
          </a:xfrm>
          <a:prstGeom prst="roundRect">
            <a:avLst>
              <a:gd fmla="val 5000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8321040" y="2194560"/>
            <a:ext cx="2953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DATOS</a:t>
            </a:r>
            <a:r>
              <a:rPr b="0" lang="en-US" sz="95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  ·  dónde se guarda todo</a:t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8321040" y="2523744"/>
            <a:ext cx="832104" cy="265176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9244584" y="2523744"/>
            <a:ext cx="475488" cy="265176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Redis</a:t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640080" y="3657600"/>
            <a:ext cx="3502152" cy="1481328"/>
          </a:xfrm>
          <a:prstGeom prst="roundRect">
            <a:avLst>
              <a:gd fmla="val 5000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 txBox="1"/>
          <p:nvPr/>
        </p:nvSpPr>
        <p:spPr>
          <a:xfrm>
            <a:off x="914400" y="3858768"/>
            <a:ext cx="2953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SEGURIDAD</a:t>
            </a:r>
            <a:r>
              <a:rPr b="0" lang="en-US" sz="95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  ·  quién puede entrar</a:t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914400" y="4187952"/>
            <a:ext cx="332841" cy="265176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JWT</a:t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1338681" y="4187952"/>
            <a:ext cx="760780" cy="265176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OAuth 2.0</a:t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2190902" y="4187952"/>
            <a:ext cx="546811" cy="265176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bcrypt</a:t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4343400" y="3657600"/>
            <a:ext cx="3502152" cy="1481328"/>
          </a:xfrm>
          <a:prstGeom prst="roundRect">
            <a:avLst>
              <a:gd fmla="val 5000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 txBox="1"/>
          <p:nvPr/>
        </p:nvSpPr>
        <p:spPr>
          <a:xfrm>
            <a:off x="4617720" y="3858768"/>
            <a:ext cx="2953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AGENTES E IA</a:t>
            </a:r>
            <a:r>
              <a:rPr b="0" lang="en-US" sz="95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  ·  busca y redacta</a:t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4617720" y="4187952"/>
            <a:ext cx="760780" cy="265176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LangGraph</a:t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5469940" y="4187952"/>
            <a:ext cx="1402689" cy="265176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Modelo de lenguaje</a:t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4617720" y="4498848"/>
            <a:ext cx="1474012" cy="265176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Prompts localizados</a:t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8046719" y="3657600"/>
            <a:ext cx="3502152" cy="1481328"/>
          </a:xfrm>
          <a:prstGeom prst="roundRect">
            <a:avLst>
              <a:gd fmla="val 5000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 txBox="1"/>
          <p:nvPr/>
        </p:nvSpPr>
        <p:spPr>
          <a:xfrm>
            <a:off x="8321040" y="3858768"/>
            <a:ext cx="2953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SERVICIOS EXTERNOS</a:t>
            </a:r>
            <a:r>
              <a:rPr b="0" lang="en-US" sz="95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  ·  de dónde salen los datos</a:t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8321040" y="4187952"/>
            <a:ext cx="1188719" cy="265176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Companies House</a:t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9601200" y="4187952"/>
            <a:ext cx="760780" cy="265176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SEC EDGAR</a:t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8321040" y="4498848"/>
            <a:ext cx="1260043" cy="265176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People Data Labs</a:t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9672523" y="4498848"/>
            <a:ext cx="1188719" cy="265176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Google Calendar</a:t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8321040" y="4809744"/>
            <a:ext cx="1188719" cy="265176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Microsoft Graph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"/>
          <p:cNvSpPr txBox="1"/>
          <p:nvPr/>
        </p:nvSpPr>
        <p:spPr>
          <a:xfrm>
            <a:off x="640080" y="384048"/>
            <a:ext cx="10058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EL TRABAJO DEL SEMESTRE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 txBox="1"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Cinco brechas entre lo que promete y lo que hace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640080" y="1463040"/>
            <a:ext cx="10881360" cy="768096"/>
          </a:xfrm>
          <a:prstGeom prst="roundRect">
            <a:avLst>
              <a:gd fmla="val 7143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841248" y="1645920"/>
            <a:ext cx="402336" cy="402336"/>
          </a:xfrm>
          <a:prstGeom prst="ellipse">
            <a:avLst/>
          </a:prstGeom>
          <a:solidFill>
            <a:srgbClr val="B7791F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 txBox="1"/>
          <p:nvPr/>
        </p:nvSpPr>
        <p:spPr>
          <a:xfrm>
            <a:off x="841248" y="164592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 txBox="1"/>
          <p:nvPr/>
        </p:nvSpPr>
        <p:spPr>
          <a:xfrm>
            <a:off x="1389888" y="1545336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Informe sin estructura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 txBox="1"/>
          <p:nvPr/>
        </p:nvSpPr>
        <p:spPr>
          <a:xfrm>
            <a:off x="1389888" y="1819656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El informe se guarda como un texto seguido. Al no estar separado en datos, no se puede ordenar, filtrar ni comprobar automáticamente si una fuente es real.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640080" y="2322576"/>
            <a:ext cx="10881360" cy="768096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841248" y="2505456"/>
            <a:ext cx="402336" cy="402336"/>
          </a:xfrm>
          <a:prstGeom prst="ellipse">
            <a:avLst/>
          </a:prstGeom>
          <a:solidFill>
            <a:srgbClr val="B7791F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 txBox="1"/>
          <p:nvPr/>
        </p:nvSpPr>
        <p:spPr>
          <a:xfrm>
            <a:off x="841248" y="250545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 txBox="1"/>
          <p:nvPr/>
        </p:nvSpPr>
        <p:spPr>
          <a:xfrm>
            <a:off x="1389888" y="2404872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Solo Reino Unido y Estados Unidos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 txBox="1"/>
          <p:nvPr/>
        </p:nvSpPr>
        <p:spPr>
          <a:xfrm>
            <a:off x="1389888" y="2679192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El sistema consulta los registros de empresas británicos y estadounidenses, pero no los de Europa continental, que la especificación sí promete.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640080" y="3182112"/>
            <a:ext cx="10881360" cy="768096"/>
          </a:xfrm>
          <a:prstGeom prst="roundRect">
            <a:avLst>
              <a:gd fmla="val 7143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841248" y="3364992"/>
            <a:ext cx="402336" cy="402336"/>
          </a:xfrm>
          <a:prstGeom prst="ellipse">
            <a:avLst/>
          </a:prstGeom>
          <a:solidFill>
            <a:srgbClr val="B7791F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 txBox="1"/>
          <p:nvPr/>
        </p:nvSpPr>
        <p:spPr>
          <a:xfrm>
            <a:off x="841248" y="336499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 txBox="1"/>
          <p:nvPr/>
        </p:nvSpPr>
        <p:spPr>
          <a:xfrm>
            <a:off x="1389888" y="3264408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No busca en prensa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 txBox="1"/>
          <p:nvPr/>
        </p:nvSpPr>
        <p:spPr>
          <a:xfrm>
            <a:off x="1389888" y="3480692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El sistema no revisa noticias ni prensa sobre la persona o la empresa.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640080" y="4041648"/>
            <a:ext cx="10881360" cy="768096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841248" y="4224528"/>
            <a:ext cx="402336" cy="402336"/>
          </a:xfrm>
          <a:prstGeom prst="ellipse">
            <a:avLst/>
          </a:prstGeom>
          <a:solidFill>
            <a:srgbClr val="B7791F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 txBox="1"/>
          <p:nvPr/>
        </p:nvSpPr>
        <p:spPr>
          <a:xfrm>
            <a:off x="841248" y="422452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 txBox="1"/>
          <p:nvPr/>
        </p:nvSpPr>
        <p:spPr>
          <a:xfrm>
            <a:off x="1389888" y="4123944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Sin avance en tiempo real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 txBox="1"/>
          <p:nvPr/>
        </p:nvSpPr>
        <p:spPr>
          <a:xfrm>
            <a:off x="1389888" y="4398264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Mientras se genera el informe, el dashboard no muestra en qué paso va: solo pregunta cada tres segundos si ya terminó.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640080" y="4901184"/>
            <a:ext cx="10881360" cy="768096"/>
          </a:xfrm>
          <a:prstGeom prst="roundRect">
            <a:avLst>
              <a:gd fmla="val 7143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841248" y="5084064"/>
            <a:ext cx="402336" cy="402336"/>
          </a:xfrm>
          <a:prstGeom prst="ellipse">
            <a:avLst/>
          </a:prstGeom>
          <a:solidFill>
            <a:srgbClr val="B7791F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 txBox="1"/>
          <p:nvPr/>
        </p:nvSpPr>
        <p:spPr>
          <a:xfrm>
            <a:off x="841248" y="508406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 txBox="1"/>
          <p:nvPr/>
        </p:nvSpPr>
        <p:spPr>
          <a:xfrm>
            <a:off x="1389888" y="4983480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Sin envío por correo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 txBox="1"/>
          <p:nvPr/>
        </p:nvSpPr>
        <p:spPr>
          <a:xfrm>
            <a:off x="1389888" y="521208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El envío del informe por correo está previsto en el sistema, pero no está construido.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"/>
          <p:cNvSpPr txBox="1"/>
          <p:nvPr/>
        </p:nvSpPr>
        <p:spPr>
          <a:xfrm>
            <a:off x="640080" y="384048"/>
            <a:ext cx="10058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OBJETIVOS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 txBox="1"/>
          <p:nvPr/>
        </p:nvSpPr>
        <p:spPr>
          <a:xfrm>
            <a:off x="640080" y="658368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Objetivo general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640080" y="1298448"/>
            <a:ext cx="10881360" cy="960120"/>
          </a:xfrm>
          <a:prstGeom prst="roundRect">
            <a:avLst>
              <a:gd fmla="val 5714" name="adj"/>
            </a:avLst>
          </a:prstGeom>
          <a:solidFill>
            <a:srgbClr val="141B45"/>
          </a:solidFill>
          <a:ln cap="flat" cmpd="sng" w="9525">
            <a:solidFill>
              <a:srgbClr val="141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 txBox="1"/>
          <p:nvPr/>
        </p:nvSpPr>
        <p:spPr>
          <a:xfrm>
            <a:off x="960120" y="1298448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alibri"/>
              <a:buNone/>
            </a:pPr>
            <a:r>
              <a:rPr b="1" lang="en-US" sz="16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Completar el sistema existente Project Dossier, cerrando las brechas que hoy impiden su operación con clientes reales, para la empresa Alloxentric.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 txBox="1"/>
          <p:nvPr/>
        </p:nvSpPr>
        <p:spPr>
          <a:xfrm>
            <a:off x="640080" y="2514600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NUEVE OBJETIVOS ESPECÍFICOS, CADA UNO SOBRE EL ANTERIOR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640080" y="2880360"/>
            <a:ext cx="2606040" cy="2697480"/>
          </a:xfrm>
          <a:prstGeom prst="roundRect">
            <a:avLst>
              <a:gd fmla="val 2105" name="adj"/>
            </a:avLst>
          </a:prstGeom>
          <a:solidFill>
            <a:srgbClr val="141B45"/>
          </a:solidFill>
          <a:ln cap="flat" cmpd="sng" w="9525">
            <a:solidFill>
              <a:srgbClr val="2E3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896112" y="3127248"/>
            <a:ext cx="420624" cy="420624"/>
          </a:xfrm>
          <a:prstGeom prst="ellipse">
            <a:avLst/>
          </a:prstGeom>
          <a:solidFill>
            <a:srgbClr val="B7791F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 txBox="1"/>
          <p:nvPr/>
        </p:nvSpPr>
        <p:spPr>
          <a:xfrm>
            <a:off x="896112" y="312724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 txBox="1"/>
          <p:nvPr/>
        </p:nvSpPr>
        <p:spPr>
          <a:xfrm>
            <a:off x="1417320" y="3182112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OE 1 · 2 · 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 txBox="1"/>
          <p:nvPr/>
        </p:nvSpPr>
        <p:spPr>
          <a:xfrm>
            <a:off x="896112" y="3675888"/>
            <a:ext cx="2148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Diagnosticar y consolidar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 txBox="1"/>
          <p:nvPr/>
        </p:nvSpPr>
        <p:spPr>
          <a:xfrm>
            <a:off x="896112" y="4261104"/>
            <a:ext cx="2148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Auditar el sistema, dejar el código en condiciones de trabajar sobre él y diseñar la solución.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 txBox="1"/>
          <p:nvPr/>
        </p:nvSpPr>
        <p:spPr>
          <a:xfrm>
            <a:off x="3264408" y="4023360"/>
            <a:ext cx="1463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3383280" y="2880360"/>
            <a:ext cx="2606040" cy="2697480"/>
          </a:xfrm>
          <a:prstGeom prst="roundRect">
            <a:avLst>
              <a:gd fmla="val 2105" name="adj"/>
            </a:avLst>
          </a:prstGeom>
          <a:solidFill>
            <a:srgbClr val="141B45"/>
          </a:solidFill>
          <a:ln cap="flat" cmpd="sng" w="9525">
            <a:solidFill>
              <a:srgbClr val="2E3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3639312" y="3127248"/>
            <a:ext cx="420624" cy="420624"/>
          </a:xfrm>
          <a:prstGeom prst="ellipse">
            <a:avLst/>
          </a:prstGeom>
          <a:solidFill>
            <a:srgbClr val="B7791F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 txBox="1"/>
          <p:nvPr/>
        </p:nvSpPr>
        <p:spPr>
          <a:xfrm>
            <a:off x="3639312" y="312724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 txBox="1"/>
          <p:nvPr/>
        </p:nvSpPr>
        <p:spPr>
          <a:xfrm>
            <a:off x="4160520" y="3182112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OE 4 · 5 · 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 txBox="1"/>
          <p:nvPr/>
        </p:nvSpPr>
        <p:spPr>
          <a:xfrm>
            <a:off x="3634740" y="3565787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Construir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 txBox="1"/>
          <p:nvPr/>
        </p:nvSpPr>
        <p:spPr>
          <a:xfrm>
            <a:off x="3639312" y="4261104"/>
            <a:ext cx="2148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Registros de empresas europeas, búsqueda en prensa, informe estructurado y avance en tiempo real.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 txBox="1"/>
          <p:nvPr/>
        </p:nvSpPr>
        <p:spPr>
          <a:xfrm>
            <a:off x="6007608" y="4023360"/>
            <a:ext cx="1463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6126480" y="2880360"/>
            <a:ext cx="2606040" cy="2697480"/>
          </a:xfrm>
          <a:prstGeom prst="roundRect">
            <a:avLst>
              <a:gd fmla="val 2105" name="adj"/>
            </a:avLst>
          </a:prstGeom>
          <a:solidFill>
            <a:srgbClr val="141B45"/>
          </a:solidFill>
          <a:ln cap="flat" cmpd="sng" w="9525">
            <a:solidFill>
              <a:srgbClr val="2E3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6382512" y="3127248"/>
            <a:ext cx="420624" cy="420624"/>
          </a:xfrm>
          <a:prstGeom prst="ellipse">
            <a:avLst/>
          </a:prstGeom>
          <a:solidFill>
            <a:srgbClr val="B7791F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 txBox="1"/>
          <p:nvPr/>
        </p:nvSpPr>
        <p:spPr>
          <a:xfrm>
            <a:off x="6382512" y="312724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 txBox="1"/>
          <p:nvPr/>
        </p:nvSpPr>
        <p:spPr>
          <a:xfrm>
            <a:off x="6903720" y="3182112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OE 7 · 8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 txBox="1"/>
          <p:nvPr/>
        </p:nvSpPr>
        <p:spPr>
          <a:xfrm>
            <a:off x="6382512" y="3584448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Entregar y asegurar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 txBox="1"/>
          <p:nvPr/>
        </p:nvSpPr>
        <p:spPr>
          <a:xfrm>
            <a:off x="6382512" y="4261104"/>
            <a:ext cx="2148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Envío por correo, permisos por usuario, registro de quién consulta cada informe, y pruebas.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 txBox="1"/>
          <p:nvPr/>
        </p:nvSpPr>
        <p:spPr>
          <a:xfrm>
            <a:off x="8750808" y="4023360"/>
            <a:ext cx="1463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8869680" y="2880360"/>
            <a:ext cx="2606040" cy="2697480"/>
          </a:xfrm>
          <a:prstGeom prst="roundRect">
            <a:avLst>
              <a:gd fmla="val 2105" name="adj"/>
            </a:avLst>
          </a:prstGeom>
          <a:solidFill>
            <a:srgbClr val="141B45"/>
          </a:solidFill>
          <a:ln cap="flat" cmpd="sng" w="9525">
            <a:solidFill>
              <a:srgbClr val="2E3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9125712" y="3127248"/>
            <a:ext cx="420624" cy="420624"/>
          </a:xfrm>
          <a:prstGeom prst="ellipse">
            <a:avLst/>
          </a:prstGeom>
          <a:solidFill>
            <a:srgbClr val="B7791F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 txBox="1"/>
          <p:nvPr/>
        </p:nvSpPr>
        <p:spPr>
          <a:xfrm>
            <a:off x="9125712" y="312724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 txBox="1"/>
          <p:nvPr/>
        </p:nvSpPr>
        <p:spPr>
          <a:xfrm>
            <a:off x="9646920" y="3182112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OE 9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 txBox="1"/>
          <p:nvPr/>
        </p:nvSpPr>
        <p:spPr>
          <a:xfrm>
            <a:off x="9108730" y="3584448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Documentar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 txBox="1"/>
          <p:nvPr/>
        </p:nvSpPr>
        <p:spPr>
          <a:xfrm>
            <a:off x="9125712" y="4261104"/>
            <a:ext cx="2148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Documentación técnica y manual de usuario para Alloxentric.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8"/>
          <p:cNvSpPr txBox="1"/>
          <p:nvPr/>
        </p:nvSpPr>
        <p:spPr>
          <a:xfrm>
            <a:off x="640080" y="384048"/>
            <a:ext cx="10058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METODOLOGÍA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 txBox="1"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Scrum: un ciclo de dos semanas, repetido ocho veces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1207008" y="1554480"/>
            <a:ext cx="1051560" cy="1051560"/>
          </a:xfrm>
          <a:prstGeom prst="ellipse">
            <a:avLst/>
          </a:prstGeom>
          <a:solidFill>
            <a:srgbClr val="F2F5FA"/>
          </a:solidFill>
          <a:ln cap="flat" cmpd="sng" w="158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 txBox="1"/>
          <p:nvPr/>
        </p:nvSpPr>
        <p:spPr>
          <a:xfrm>
            <a:off x="1216522" y="1553080"/>
            <a:ext cx="10515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 txBox="1"/>
          <p:nvPr/>
        </p:nvSpPr>
        <p:spPr>
          <a:xfrm>
            <a:off x="640080" y="2724912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mbria"/>
              <a:buNone/>
            </a:pPr>
            <a:r>
              <a:rPr b="1" lang="en-US" sz="145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Planificar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 txBox="1"/>
          <p:nvPr/>
        </p:nvSpPr>
        <p:spPr>
          <a:xfrm>
            <a:off x="640080" y="301752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qué entra en el ciclo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 txBox="1"/>
          <p:nvPr/>
        </p:nvSpPr>
        <p:spPr>
          <a:xfrm>
            <a:off x="2423160" y="1874520"/>
            <a:ext cx="822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 txBox="1"/>
          <p:nvPr/>
        </p:nvSpPr>
        <p:spPr>
          <a:xfrm>
            <a:off x="3429000" y="2724912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mbria"/>
              <a:buNone/>
            </a:pPr>
            <a:r>
              <a:rPr b="1" lang="en-US" sz="145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Construir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 txBox="1"/>
          <p:nvPr/>
        </p:nvSpPr>
        <p:spPr>
          <a:xfrm>
            <a:off x="3429000" y="301752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algo que se pueda mostrar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 txBox="1"/>
          <p:nvPr/>
        </p:nvSpPr>
        <p:spPr>
          <a:xfrm>
            <a:off x="5212080" y="1874520"/>
            <a:ext cx="822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6784848" y="1554480"/>
            <a:ext cx="1051560" cy="1051560"/>
          </a:xfrm>
          <a:prstGeom prst="ellipse">
            <a:avLst/>
          </a:prstGeom>
          <a:solidFill>
            <a:srgbClr val="F2F5FA"/>
          </a:solidFill>
          <a:ln cap="flat" cmpd="sng" w="158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 txBox="1"/>
          <p:nvPr/>
        </p:nvSpPr>
        <p:spPr>
          <a:xfrm>
            <a:off x="6794362" y="1513332"/>
            <a:ext cx="10515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 txBox="1"/>
          <p:nvPr/>
        </p:nvSpPr>
        <p:spPr>
          <a:xfrm>
            <a:off x="6217920" y="2724912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mbria"/>
              <a:buNone/>
            </a:pPr>
            <a:r>
              <a:rPr b="1" lang="en-US" sz="145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Revisar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 txBox="1"/>
          <p:nvPr/>
        </p:nvSpPr>
        <p:spPr>
          <a:xfrm>
            <a:off x="6217920" y="301752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con el docente guía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 txBox="1"/>
          <p:nvPr/>
        </p:nvSpPr>
        <p:spPr>
          <a:xfrm>
            <a:off x="8001000" y="1874520"/>
            <a:ext cx="822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9573768" y="1554480"/>
            <a:ext cx="1051560" cy="1051560"/>
          </a:xfrm>
          <a:prstGeom prst="ellipse">
            <a:avLst/>
          </a:prstGeom>
          <a:solidFill>
            <a:srgbClr val="F2F5FA"/>
          </a:solidFill>
          <a:ln cap="flat" cmpd="sng" w="158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 txBox="1"/>
          <p:nvPr/>
        </p:nvSpPr>
        <p:spPr>
          <a:xfrm>
            <a:off x="9583282" y="1534792"/>
            <a:ext cx="10515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 txBox="1"/>
          <p:nvPr/>
        </p:nvSpPr>
        <p:spPr>
          <a:xfrm>
            <a:off x="9006840" y="2724912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mbria"/>
              <a:buNone/>
            </a:pPr>
            <a:r>
              <a:rPr b="1" lang="en-US" sz="145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Ajustar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 txBox="1"/>
          <p:nvPr/>
        </p:nvSpPr>
        <p:spPr>
          <a:xfrm>
            <a:off x="9006840" y="301752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retrospectiva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 txBox="1"/>
          <p:nvPr/>
        </p:nvSpPr>
        <p:spPr>
          <a:xfrm>
            <a:off x="10607040" y="1828800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↻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 txBox="1"/>
          <p:nvPr/>
        </p:nvSpPr>
        <p:spPr>
          <a:xfrm>
            <a:off x="10378440" y="239572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cada 2 semanas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 txBox="1"/>
          <p:nvPr/>
        </p:nvSpPr>
        <p:spPr>
          <a:xfrm>
            <a:off x="640080" y="365760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LOS OCHO SPRINTS DEL SEMESTRE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640080" y="3977640"/>
            <a:ext cx="1243584" cy="1600200"/>
          </a:xfrm>
          <a:prstGeom prst="roundRect">
            <a:avLst>
              <a:gd fmla="val 4412" name="adj"/>
            </a:avLst>
          </a:prstGeom>
          <a:solidFill>
            <a:srgbClr val="1E2761"/>
          </a:solidFill>
          <a:ln cap="flat" cmpd="sng" w="95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 txBox="1"/>
          <p:nvPr/>
        </p:nvSpPr>
        <p:spPr>
          <a:xfrm>
            <a:off x="640080" y="4087368"/>
            <a:ext cx="12435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 txBox="1"/>
          <p:nvPr/>
        </p:nvSpPr>
        <p:spPr>
          <a:xfrm>
            <a:off x="640080" y="4453128"/>
            <a:ext cx="12435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sem 1–4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 txBox="1"/>
          <p:nvPr/>
        </p:nvSpPr>
        <p:spPr>
          <a:xfrm>
            <a:off x="704088" y="4754880"/>
            <a:ext cx="111556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Diagnóstico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 diseño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1979676" y="3977640"/>
            <a:ext cx="1243584" cy="1600200"/>
          </a:xfrm>
          <a:prstGeom prst="roundRect">
            <a:avLst>
              <a:gd fmla="val 4412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 txBox="1"/>
          <p:nvPr/>
        </p:nvSpPr>
        <p:spPr>
          <a:xfrm>
            <a:off x="1979676" y="4087368"/>
            <a:ext cx="12435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 txBox="1"/>
          <p:nvPr/>
        </p:nvSpPr>
        <p:spPr>
          <a:xfrm>
            <a:off x="1979676" y="4453128"/>
            <a:ext cx="12435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sem 5–6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 txBox="1"/>
          <p:nvPr/>
        </p:nvSpPr>
        <p:spPr>
          <a:xfrm>
            <a:off x="2043684" y="4754880"/>
            <a:ext cx="111556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Consolidación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técnica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3319272" y="3977640"/>
            <a:ext cx="1243584" cy="1600200"/>
          </a:xfrm>
          <a:prstGeom prst="roundRect">
            <a:avLst>
              <a:gd fmla="val 4412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 txBox="1"/>
          <p:nvPr/>
        </p:nvSpPr>
        <p:spPr>
          <a:xfrm>
            <a:off x="3319272" y="4087368"/>
            <a:ext cx="12435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 txBox="1"/>
          <p:nvPr/>
        </p:nvSpPr>
        <p:spPr>
          <a:xfrm>
            <a:off x="3319272" y="4453128"/>
            <a:ext cx="12435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sem 7–8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 txBox="1"/>
          <p:nvPr/>
        </p:nvSpPr>
        <p:spPr>
          <a:xfrm>
            <a:off x="3383280" y="4754880"/>
            <a:ext cx="111556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Registros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europeos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4658868" y="3977640"/>
            <a:ext cx="1243584" cy="1600200"/>
          </a:xfrm>
          <a:prstGeom prst="roundRect">
            <a:avLst>
              <a:gd fmla="val 4412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 txBox="1"/>
          <p:nvPr/>
        </p:nvSpPr>
        <p:spPr>
          <a:xfrm>
            <a:off x="4658868" y="4087368"/>
            <a:ext cx="12435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 txBox="1"/>
          <p:nvPr/>
        </p:nvSpPr>
        <p:spPr>
          <a:xfrm>
            <a:off x="4658868" y="4453128"/>
            <a:ext cx="12435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sem 9–10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 txBox="1"/>
          <p:nvPr/>
        </p:nvSpPr>
        <p:spPr>
          <a:xfrm>
            <a:off x="4722876" y="4754880"/>
            <a:ext cx="111556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Noticias y dashboard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5998464" y="3977640"/>
            <a:ext cx="1243584" cy="1600200"/>
          </a:xfrm>
          <a:prstGeom prst="roundRect">
            <a:avLst>
              <a:gd fmla="val 4412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 txBox="1"/>
          <p:nvPr/>
        </p:nvSpPr>
        <p:spPr>
          <a:xfrm>
            <a:off x="5998464" y="4087368"/>
            <a:ext cx="12435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 txBox="1"/>
          <p:nvPr/>
        </p:nvSpPr>
        <p:spPr>
          <a:xfrm>
            <a:off x="5998464" y="4453128"/>
            <a:ext cx="12435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sem 11–12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 txBox="1"/>
          <p:nvPr/>
        </p:nvSpPr>
        <p:spPr>
          <a:xfrm>
            <a:off x="6062472" y="4754880"/>
            <a:ext cx="111556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Informe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estructurado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7338060" y="3977640"/>
            <a:ext cx="1243584" cy="1600200"/>
          </a:xfrm>
          <a:prstGeom prst="roundRect">
            <a:avLst>
              <a:gd fmla="val 4412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 txBox="1"/>
          <p:nvPr/>
        </p:nvSpPr>
        <p:spPr>
          <a:xfrm>
            <a:off x="7338060" y="4087368"/>
            <a:ext cx="12435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 txBox="1"/>
          <p:nvPr/>
        </p:nvSpPr>
        <p:spPr>
          <a:xfrm>
            <a:off x="7338060" y="4453128"/>
            <a:ext cx="12435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sem 13–14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 txBox="1"/>
          <p:nvPr/>
        </p:nvSpPr>
        <p:spPr>
          <a:xfrm>
            <a:off x="7402068" y="4754880"/>
            <a:ext cx="111556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Tiempo real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y correo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8677656" y="3977640"/>
            <a:ext cx="1243584" cy="1600200"/>
          </a:xfrm>
          <a:prstGeom prst="roundRect">
            <a:avLst>
              <a:gd fmla="val 4412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 txBox="1"/>
          <p:nvPr/>
        </p:nvSpPr>
        <p:spPr>
          <a:xfrm>
            <a:off x="8677656" y="4087368"/>
            <a:ext cx="12435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 txBox="1"/>
          <p:nvPr/>
        </p:nvSpPr>
        <p:spPr>
          <a:xfrm>
            <a:off x="8677656" y="4453128"/>
            <a:ext cx="12435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sem 15–16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 txBox="1"/>
          <p:nvPr/>
        </p:nvSpPr>
        <p:spPr>
          <a:xfrm>
            <a:off x="8741664" y="4754880"/>
            <a:ext cx="111556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Entrega 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seguridad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10017252" y="3977640"/>
            <a:ext cx="1243584" cy="1600200"/>
          </a:xfrm>
          <a:prstGeom prst="roundRect">
            <a:avLst>
              <a:gd fmla="val 4412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 txBox="1"/>
          <p:nvPr/>
        </p:nvSpPr>
        <p:spPr>
          <a:xfrm>
            <a:off x="10017252" y="4087368"/>
            <a:ext cx="12435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 txBox="1"/>
          <p:nvPr/>
        </p:nvSpPr>
        <p:spPr>
          <a:xfrm>
            <a:off x="10017252" y="4453128"/>
            <a:ext cx="12435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sem 17–18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 txBox="1"/>
          <p:nvPr/>
        </p:nvSpPr>
        <p:spPr>
          <a:xfrm>
            <a:off x="10081260" y="4754880"/>
            <a:ext cx="111556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Validación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y cierre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640080" y="5806440"/>
            <a:ext cx="2583180" cy="457200"/>
          </a:xfrm>
          <a:prstGeom prst="roundRect">
            <a:avLst>
              <a:gd fmla="val 50000" name="adj"/>
            </a:avLst>
          </a:prstGeom>
          <a:solidFill>
            <a:srgbClr val="FBF3E2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 txBox="1"/>
          <p:nvPr/>
        </p:nvSpPr>
        <p:spPr>
          <a:xfrm>
            <a:off x="731520" y="5806440"/>
            <a:ext cx="2400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Control de versiones con Git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3406140" y="5806440"/>
            <a:ext cx="2583180" cy="457200"/>
          </a:xfrm>
          <a:prstGeom prst="roundRect">
            <a:avLst>
              <a:gd fmla="val 50000" name="adj"/>
            </a:avLst>
          </a:prstGeom>
          <a:solidFill>
            <a:srgbClr val="FBF3E2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 txBox="1"/>
          <p:nvPr/>
        </p:nvSpPr>
        <p:spPr>
          <a:xfrm>
            <a:off x="3497580" y="5806440"/>
            <a:ext cx="2400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Revisión entre pares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6172200" y="5806440"/>
            <a:ext cx="2583180" cy="457200"/>
          </a:xfrm>
          <a:prstGeom prst="roundRect">
            <a:avLst>
              <a:gd fmla="val 50000" name="adj"/>
            </a:avLst>
          </a:prstGeom>
          <a:solidFill>
            <a:srgbClr val="FBF3E2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 txBox="1"/>
          <p:nvPr/>
        </p:nvSpPr>
        <p:spPr>
          <a:xfrm>
            <a:off x="6263640" y="5806440"/>
            <a:ext cx="2400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Lista de tareas en Trello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8938260" y="5806440"/>
            <a:ext cx="2583180" cy="457200"/>
          </a:xfrm>
          <a:prstGeom prst="roundRect">
            <a:avLst>
              <a:gd fmla="val 50000" name="adj"/>
            </a:avLst>
          </a:prstGeom>
          <a:solidFill>
            <a:srgbClr val="FBF3E2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 txBox="1"/>
          <p:nvPr/>
        </p:nvSpPr>
        <p:spPr>
          <a:xfrm>
            <a:off x="9029700" y="5806440"/>
            <a:ext cx="2400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Definición de Terminado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3963924" y="1548415"/>
            <a:ext cx="1051560" cy="1051560"/>
          </a:xfrm>
          <a:prstGeom prst="ellipse">
            <a:avLst/>
          </a:prstGeom>
          <a:solidFill>
            <a:srgbClr val="F2F5FA"/>
          </a:solidFill>
          <a:ln cap="flat" cmpd="sng" w="158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 txBox="1"/>
          <p:nvPr/>
        </p:nvSpPr>
        <p:spPr>
          <a:xfrm>
            <a:off x="3973438" y="1534792"/>
            <a:ext cx="10515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9"/>
          <p:cNvSpPr txBox="1"/>
          <p:nvPr/>
        </p:nvSpPr>
        <p:spPr>
          <a:xfrm>
            <a:off x="640080" y="384048"/>
            <a:ext cx="10058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ALCANCE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 txBox="1"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Hasta dónde nos comprometemos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640080" y="1481328"/>
            <a:ext cx="5303520" cy="3977640"/>
          </a:xfrm>
          <a:prstGeom prst="roundRect">
            <a:avLst>
              <a:gd fmla="val 1379" name="adj"/>
            </a:avLst>
          </a:prstGeom>
          <a:solidFill>
            <a:srgbClr val="E7F2EC"/>
          </a:solidFill>
          <a:ln cap="flat" cmpd="sng" w="9525">
            <a:solidFill>
              <a:srgbClr val="2E7D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 txBox="1"/>
          <p:nvPr/>
        </p:nvSpPr>
        <p:spPr>
          <a:xfrm>
            <a:off x="914400" y="169164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E7D5B"/>
                </a:solidFill>
                <a:latin typeface="Calibri"/>
                <a:ea typeface="Calibri"/>
                <a:cs typeface="Calibri"/>
                <a:sym typeface="Calibri"/>
              </a:rPr>
              <a:t>ALCANCE COMPROMETIDO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932688" y="2194560"/>
            <a:ext cx="182880" cy="182880"/>
          </a:xfrm>
          <a:prstGeom prst="ellipse">
            <a:avLst/>
          </a:prstGeom>
          <a:solidFill>
            <a:srgbClr val="2E7D5B"/>
          </a:solidFill>
          <a:ln cap="flat" cmpd="sng" w="12700">
            <a:solidFill>
              <a:srgbClr val="2E7D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 txBox="1"/>
          <p:nvPr/>
        </p:nvSpPr>
        <p:spPr>
          <a:xfrm>
            <a:off x="1261872" y="2121408"/>
            <a:ext cx="4480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Informe estructurado con datos verificables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932688" y="2706624"/>
            <a:ext cx="182880" cy="182880"/>
          </a:xfrm>
          <a:prstGeom prst="ellipse">
            <a:avLst/>
          </a:prstGeom>
          <a:solidFill>
            <a:srgbClr val="2E7D5B"/>
          </a:solidFill>
          <a:ln cap="flat" cmpd="sng" w="12700">
            <a:solidFill>
              <a:srgbClr val="2E7D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 txBox="1"/>
          <p:nvPr/>
        </p:nvSpPr>
        <p:spPr>
          <a:xfrm>
            <a:off x="1261872" y="2633472"/>
            <a:ext cx="4480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Registros corporativos europeos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932688" y="3218688"/>
            <a:ext cx="182880" cy="182880"/>
          </a:xfrm>
          <a:prstGeom prst="ellipse">
            <a:avLst/>
          </a:prstGeom>
          <a:solidFill>
            <a:srgbClr val="2E7D5B"/>
          </a:solidFill>
          <a:ln cap="flat" cmpd="sng" w="12700">
            <a:solidFill>
              <a:srgbClr val="2E7D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 txBox="1"/>
          <p:nvPr/>
        </p:nvSpPr>
        <p:spPr>
          <a:xfrm>
            <a:off x="1261872" y="3145536"/>
            <a:ext cx="4480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Agente de noticias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932688" y="3730752"/>
            <a:ext cx="182880" cy="182880"/>
          </a:xfrm>
          <a:prstGeom prst="ellipse">
            <a:avLst/>
          </a:prstGeom>
          <a:solidFill>
            <a:srgbClr val="2E7D5B"/>
          </a:solidFill>
          <a:ln cap="flat" cmpd="sng" w="12700">
            <a:solidFill>
              <a:srgbClr val="2E7D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 txBox="1"/>
          <p:nvPr/>
        </p:nvSpPr>
        <p:spPr>
          <a:xfrm>
            <a:off x="1261872" y="3657600"/>
            <a:ext cx="4480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Avance en tiempo real en el dashboard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932688" y="4242816"/>
            <a:ext cx="182880" cy="182880"/>
          </a:xfrm>
          <a:prstGeom prst="ellipse">
            <a:avLst/>
          </a:prstGeom>
          <a:solidFill>
            <a:srgbClr val="2E7D5B"/>
          </a:solidFill>
          <a:ln cap="flat" cmpd="sng" w="12700">
            <a:solidFill>
              <a:srgbClr val="2E7D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 txBox="1"/>
          <p:nvPr/>
        </p:nvSpPr>
        <p:spPr>
          <a:xfrm>
            <a:off x="1261872" y="4169664"/>
            <a:ext cx="4480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Entrega automática por correo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932688" y="4754880"/>
            <a:ext cx="182880" cy="182880"/>
          </a:xfrm>
          <a:prstGeom prst="ellipse">
            <a:avLst/>
          </a:prstGeom>
          <a:solidFill>
            <a:srgbClr val="2E7D5B"/>
          </a:solidFill>
          <a:ln cap="flat" cmpd="sng" w="12700">
            <a:solidFill>
              <a:srgbClr val="2E7D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 txBox="1"/>
          <p:nvPr/>
        </p:nvSpPr>
        <p:spPr>
          <a:xfrm>
            <a:off x="1261872" y="4681728"/>
            <a:ext cx="4480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Base técnica saneada, seguridad y pruebas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6245352" y="1481328"/>
            <a:ext cx="5303520" cy="3977640"/>
          </a:xfrm>
          <a:prstGeom prst="roundRect">
            <a:avLst>
              <a:gd fmla="val 1379" name="adj"/>
            </a:avLst>
          </a:prstGeom>
          <a:solidFill>
            <a:srgbClr val="FBF3E2"/>
          </a:solidFill>
          <a:ln cap="flat" cmpd="sng" w="9525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 txBox="1"/>
          <p:nvPr/>
        </p:nvSpPr>
        <p:spPr>
          <a:xfrm>
            <a:off x="6519672" y="169164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EXTENSIONES CONDICIONADAS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6537960" y="2194560"/>
            <a:ext cx="182880" cy="18288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 txBox="1"/>
          <p:nvPr/>
        </p:nvSpPr>
        <p:spPr>
          <a:xfrm>
            <a:off x="6867144" y="2121408"/>
            <a:ext cx="4480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Integración de pagos en ambiente de pruebas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6524337" y="2868603"/>
            <a:ext cx="182880" cy="18288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6887764" y="2799930"/>
            <a:ext cx="4480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Personalización visual por cliente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6537960" y="3494408"/>
            <a:ext cx="182880" cy="18288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 txBox="1"/>
          <p:nvPr/>
        </p:nvSpPr>
        <p:spPr>
          <a:xfrm>
            <a:off x="6867144" y="3428160"/>
            <a:ext cx="4480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API pública para clientes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 txBox="1"/>
          <p:nvPr/>
        </p:nvSpPr>
        <p:spPr>
          <a:xfrm>
            <a:off x="6537960" y="402336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Calibri"/>
              <a:buNone/>
            </a:pPr>
            <a:r>
              <a:rPr b="1" i="1" lang="en-US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Se abordan solo si el alcance comprometido está cerrado al término del Sprint 5. En caso contrario se documentan como trabajo futuro, con su estimación.</a:t>
            </a:r>
            <a:endParaRPr b="1" sz="16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640080" y="5623560"/>
            <a:ext cx="10881360" cy="777240"/>
          </a:xfrm>
          <a:prstGeom prst="roundRect">
            <a:avLst>
              <a:gd fmla="val 7059" name="adj"/>
            </a:avLst>
          </a:prstGeom>
          <a:solidFill>
            <a:srgbClr val="1E2761"/>
          </a:solidFill>
          <a:ln cap="flat" cmpd="sng" w="95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 txBox="1"/>
          <p:nvPr/>
        </p:nvSpPr>
        <p:spPr>
          <a:xfrm>
            <a:off x="932688" y="5623560"/>
            <a:ext cx="10332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distinción no es una precaución formal: quedan 12 semanas efectivas de construcción y el diagnóstico estima 12. El control del alcance es la condición de viabilidad.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0"/>
          <p:cNvSpPr txBox="1"/>
          <p:nvPr/>
        </p:nvSpPr>
        <p:spPr>
          <a:xfrm>
            <a:off x="640080" y="384048"/>
            <a:ext cx="10058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PERTINENCIA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 txBox="1"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Competencias del perfil de egreso que exige el proyecto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640080" y="1481328"/>
            <a:ext cx="5303520" cy="1389888"/>
          </a:xfrm>
          <a:prstGeom prst="roundRect">
            <a:avLst>
              <a:gd fmla="val 3947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896112" y="1719072"/>
            <a:ext cx="420624" cy="420624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0"/>
          <p:cNvSpPr txBox="1"/>
          <p:nvPr/>
        </p:nvSpPr>
        <p:spPr>
          <a:xfrm>
            <a:off x="896112" y="171907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 txBox="1"/>
          <p:nvPr/>
        </p:nvSpPr>
        <p:spPr>
          <a:xfrm>
            <a:off x="1426464" y="1682496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mbria"/>
              <a:buNone/>
            </a:pPr>
            <a:r>
              <a:rPr b="1" lang="en-US" sz="135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Gestión de proyectos informáticos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4864608" y="1719072"/>
            <a:ext cx="914400" cy="310896"/>
          </a:xfrm>
          <a:prstGeom prst="roundRect">
            <a:avLst>
              <a:gd fmla="val 50000" name="adj"/>
            </a:avLst>
          </a:prstGeom>
          <a:solidFill>
            <a:srgbClr val="F2F5FA"/>
          </a:solidFill>
          <a:ln cap="flat" cmpd="sng" w="12700">
            <a:solidFill>
              <a:srgbClr val="F2F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0"/>
          <p:cNvSpPr txBox="1"/>
          <p:nvPr/>
        </p:nvSpPr>
        <p:spPr>
          <a:xfrm>
            <a:off x="4864608" y="1719072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OE 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0"/>
          <p:cNvSpPr txBox="1"/>
          <p:nvPr/>
        </p:nvSpPr>
        <p:spPr>
          <a:xfrm>
            <a:off x="1426464" y="2029968"/>
            <a:ext cx="42976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Las brechas se convierten en un backlog con prioridad, dependencias, responsables e hitos.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6172200" y="1481328"/>
            <a:ext cx="5303520" cy="1389888"/>
          </a:xfrm>
          <a:prstGeom prst="roundRect">
            <a:avLst>
              <a:gd fmla="val 3947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6428232" y="1719072"/>
            <a:ext cx="420624" cy="420624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 txBox="1"/>
          <p:nvPr/>
        </p:nvSpPr>
        <p:spPr>
          <a:xfrm>
            <a:off x="6428232" y="171907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 txBox="1"/>
          <p:nvPr/>
        </p:nvSpPr>
        <p:spPr>
          <a:xfrm>
            <a:off x="6958584" y="1682496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mbria"/>
              <a:buNone/>
            </a:pPr>
            <a:r>
              <a:rPr b="1" lang="en-US" sz="135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Construcción de modelos de datos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10396728" y="1719072"/>
            <a:ext cx="914400" cy="310896"/>
          </a:xfrm>
          <a:prstGeom prst="roundRect">
            <a:avLst>
              <a:gd fmla="val 50000" name="adj"/>
            </a:avLst>
          </a:prstGeom>
          <a:solidFill>
            <a:srgbClr val="F2F5FA"/>
          </a:solidFill>
          <a:ln cap="flat" cmpd="sng" w="12700">
            <a:solidFill>
              <a:srgbClr val="F2F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0"/>
          <p:cNvSpPr txBox="1"/>
          <p:nvPr/>
        </p:nvSpPr>
        <p:spPr>
          <a:xfrm>
            <a:off x="10396728" y="1719072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OE 3 · 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0"/>
          <p:cNvSpPr txBox="1"/>
          <p:nvPr/>
        </p:nvSpPr>
        <p:spPr>
          <a:xfrm>
            <a:off x="6958584" y="2029968"/>
            <a:ext cx="42976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Estructuras para alertas, trayectoria, registros de empresas y prensa, con trazabilidad de cada fuente.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0"/>
          <p:cNvSpPr/>
          <p:nvPr/>
        </p:nvSpPr>
        <p:spPr>
          <a:xfrm>
            <a:off x="640080" y="3054096"/>
            <a:ext cx="5303520" cy="1389888"/>
          </a:xfrm>
          <a:prstGeom prst="roundRect">
            <a:avLst>
              <a:gd fmla="val 3947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896112" y="3291840"/>
            <a:ext cx="420624" cy="420624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 txBox="1"/>
          <p:nvPr/>
        </p:nvSpPr>
        <p:spPr>
          <a:xfrm>
            <a:off x="896112" y="329184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 txBox="1"/>
          <p:nvPr/>
        </p:nvSpPr>
        <p:spPr>
          <a:xfrm>
            <a:off x="1426464" y="3255264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mbria"/>
              <a:buNone/>
            </a:pPr>
            <a:r>
              <a:rPr b="1" lang="en-US" sz="135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Desarrollo e integración de sistemas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0"/>
          <p:cNvSpPr/>
          <p:nvPr/>
        </p:nvSpPr>
        <p:spPr>
          <a:xfrm>
            <a:off x="4864608" y="3291840"/>
            <a:ext cx="914400" cy="310896"/>
          </a:xfrm>
          <a:prstGeom prst="roundRect">
            <a:avLst>
              <a:gd fmla="val 50000" name="adj"/>
            </a:avLst>
          </a:prstGeom>
          <a:solidFill>
            <a:srgbClr val="F2F5FA"/>
          </a:solidFill>
          <a:ln cap="flat" cmpd="sng" w="12700">
            <a:solidFill>
              <a:srgbClr val="F2F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0"/>
          <p:cNvSpPr txBox="1"/>
          <p:nvPr/>
        </p:nvSpPr>
        <p:spPr>
          <a:xfrm>
            <a:off x="4864608" y="3291840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OE 4 · 5 · 6 · 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 txBox="1"/>
          <p:nvPr/>
        </p:nvSpPr>
        <p:spPr>
          <a:xfrm>
            <a:off x="1426464" y="3602736"/>
            <a:ext cx="42976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Cambios en frontend, el backend, agentes y los servicios externos, sobre una base heredada.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6172200" y="3054096"/>
            <a:ext cx="5303520" cy="1389888"/>
          </a:xfrm>
          <a:prstGeom prst="roundRect">
            <a:avLst>
              <a:gd fmla="val 3947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6428232" y="3291840"/>
            <a:ext cx="420624" cy="420624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 txBox="1"/>
          <p:nvPr/>
        </p:nvSpPr>
        <p:spPr>
          <a:xfrm>
            <a:off x="6428232" y="329184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 txBox="1"/>
          <p:nvPr/>
        </p:nvSpPr>
        <p:spPr>
          <a:xfrm>
            <a:off x="6958584" y="3255264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mbria"/>
              <a:buNone/>
            </a:pPr>
            <a:r>
              <a:rPr b="1" lang="en-US" sz="135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Pruebas de validación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10396728" y="3291840"/>
            <a:ext cx="914400" cy="310896"/>
          </a:xfrm>
          <a:prstGeom prst="roundRect">
            <a:avLst>
              <a:gd fmla="val 50000" name="adj"/>
            </a:avLst>
          </a:prstGeom>
          <a:solidFill>
            <a:srgbClr val="F2F5FA"/>
          </a:solidFill>
          <a:ln cap="flat" cmpd="sng" w="12700">
            <a:solidFill>
              <a:srgbClr val="F2F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 txBox="1"/>
          <p:nvPr/>
        </p:nvSpPr>
        <p:spPr>
          <a:xfrm>
            <a:off x="10396728" y="3291840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OE 2 · 8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 txBox="1"/>
          <p:nvPr/>
        </p:nvSpPr>
        <p:spPr>
          <a:xfrm>
            <a:off x="6958584" y="3602736"/>
            <a:ext cx="42976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Inicio de sesión, separación de datos entre empresas, créditos, fuentes y fallos de los agentes.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640080" y="4709160"/>
            <a:ext cx="10881360" cy="1463040"/>
          </a:xfrm>
          <a:prstGeom prst="roundRect">
            <a:avLst>
              <a:gd fmla="val 3750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 txBox="1"/>
          <p:nvPr/>
        </p:nvSpPr>
        <p:spPr>
          <a:xfrm>
            <a:off x="932688" y="4864608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POR QUÉ ESTE PROYECTO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0"/>
          <p:cNvSpPr txBox="1"/>
          <p:nvPr/>
        </p:nvSpPr>
        <p:spPr>
          <a:xfrm>
            <a:off x="932688" y="5138928"/>
            <a:ext cx="10287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Continuar un sistema construido por otro equipo obliga a comprender código heredado, detectar diferencias entre la documentación y la implementación, priorizar deuda técnica y corregir riesgos sin romper lo que funciona. Es la situación más frecuente en el ejercicio profesional y la menos frecuente en un proyecto académico.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1"/>
          <p:cNvSpPr txBox="1"/>
          <p:nvPr/>
        </p:nvSpPr>
        <p:spPr>
          <a:xfrm>
            <a:off x="640080" y="384048"/>
            <a:ext cx="10058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FACTIBILIDAD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1"/>
          <p:cNvSpPr txBox="1"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Es posible, y por eso el alcance está acotado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1"/>
          <p:cNvSpPr/>
          <p:nvPr/>
        </p:nvSpPr>
        <p:spPr>
          <a:xfrm>
            <a:off x="640080" y="1481328"/>
            <a:ext cx="3291840" cy="1371600"/>
          </a:xfrm>
          <a:prstGeom prst="roundRect">
            <a:avLst>
              <a:gd fmla="val 4000" name="adj"/>
            </a:avLst>
          </a:prstGeom>
          <a:solidFill>
            <a:srgbClr val="1E2761"/>
          </a:solidFill>
          <a:ln cap="flat" cmpd="sng" w="95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1"/>
          <p:cNvSpPr txBox="1"/>
          <p:nvPr/>
        </p:nvSpPr>
        <p:spPr>
          <a:xfrm>
            <a:off x="640080" y="1600200"/>
            <a:ext cx="32918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12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1"/>
          <p:cNvSpPr txBox="1"/>
          <p:nvPr/>
        </p:nvSpPr>
        <p:spPr>
          <a:xfrm>
            <a:off x="822960" y="228600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semanas efectivas de construcción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1"/>
          <p:cNvSpPr txBox="1"/>
          <p:nvPr/>
        </p:nvSpPr>
        <p:spPr>
          <a:xfrm>
            <a:off x="640080" y="3035808"/>
            <a:ext cx="3291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De 18 semanas, cuatro son de definición y dos de cierre. El diagnóstico estima 12 de trabajo: holgura nula.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1"/>
          <p:cNvSpPr txBox="1"/>
          <p:nvPr/>
        </p:nvSpPr>
        <p:spPr>
          <a:xfrm>
            <a:off x="640080" y="4114800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RECURSOS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1"/>
          <p:cNvSpPr txBox="1"/>
          <p:nvPr/>
        </p:nvSpPr>
        <p:spPr>
          <a:xfrm>
            <a:off x="640080" y="4389120"/>
            <a:ext cx="32918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Repositorio de código · base de datos y caché · servidor de pruebas · cuentas de Google y Microsoft · proveedor de correo · claves de acceso a los servicios externos y al modelo de lenguaje.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1"/>
          <p:cNvSpPr txBox="1"/>
          <p:nvPr/>
        </p:nvSpPr>
        <p:spPr>
          <a:xfrm>
            <a:off x="4206240" y="14813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RIESGOS Y CÓMO SE MITIGAN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1"/>
          <p:cNvSpPr/>
          <p:nvPr/>
        </p:nvSpPr>
        <p:spPr>
          <a:xfrm>
            <a:off x="4206240" y="1810512"/>
            <a:ext cx="7342632" cy="804672"/>
          </a:xfrm>
          <a:prstGeom prst="roundRect">
            <a:avLst>
              <a:gd fmla="val 6818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1"/>
          <p:cNvSpPr/>
          <p:nvPr/>
        </p:nvSpPr>
        <p:spPr>
          <a:xfrm>
            <a:off x="4407408" y="2121408"/>
            <a:ext cx="182880" cy="182880"/>
          </a:xfrm>
          <a:prstGeom prst="ellipse">
            <a:avLst/>
          </a:prstGeom>
          <a:solidFill>
            <a:srgbClr val="B7791F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1"/>
          <p:cNvSpPr txBox="1"/>
          <p:nvPr/>
        </p:nvSpPr>
        <p:spPr>
          <a:xfrm>
            <a:off x="4718304" y="1892808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Servicios externos con precios y límites cambiantes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1"/>
          <p:cNvSpPr txBox="1"/>
          <p:nvPr/>
        </p:nvSpPr>
        <p:spPr>
          <a:xfrm>
            <a:off x="8046720" y="1892808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Evaluar proveedores en el Sprint 0; limitar el consumo.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1"/>
          <p:cNvSpPr/>
          <p:nvPr/>
        </p:nvSpPr>
        <p:spPr>
          <a:xfrm>
            <a:off x="4206240" y="2706624"/>
            <a:ext cx="7342632" cy="804672"/>
          </a:xfrm>
          <a:prstGeom prst="roundRect">
            <a:avLst>
              <a:gd fmla="val 6818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1"/>
          <p:cNvSpPr/>
          <p:nvPr/>
        </p:nvSpPr>
        <p:spPr>
          <a:xfrm>
            <a:off x="4407408" y="3017520"/>
            <a:ext cx="182880" cy="182880"/>
          </a:xfrm>
          <a:prstGeom prst="ellipse">
            <a:avLst/>
          </a:prstGeom>
          <a:solidFill>
            <a:srgbClr val="B7791F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1"/>
          <p:cNvSpPr txBox="1"/>
          <p:nvPr/>
        </p:nvSpPr>
        <p:spPr>
          <a:xfrm>
            <a:off x="4718304" y="278892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Fuentes con personas homónimas o datos incompletos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1"/>
          <p:cNvSpPr txBox="1"/>
          <p:nvPr/>
        </p:nvSpPr>
        <p:spPr>
          <a:xfrm>
            <a:off x="8046720" y="27889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Verificar la estructura y los enlaces; declarar el dato ausente.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1"/>
          <p:cNvSpPr/>
          <p:nvPr/>
        </p:nvSpPr>
        <p:spPr>
          <a:xfrm>
            <a:off x="4206240" y="3602736"/>
            <a:ext cx="7342632" cy="804672"/>
          </a:xfrm>
          <a:prstGeom prst="roundRect">
            <a:avLst>
              <a:gd fmla="val 6818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1"/>
          <p:cNvSpPr/>
          <p:nvPr/>
        </p:nvSpPr>
        <p:spPr>
          <a:xfrm>
            <a:off x="4407408" y="3913632"/>
            <a:ext cx="182880" cy="182880"/>
          </a:xfrm>
          <a:prstGeom prst="ellipse">
            <a:avLst/>
          </a:prstGeom>
          <a:solidFill>
            <a:srgbClr val="B7791F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1"/>
          <p:cNvSpPr txBox="1"/>
          <p:nvPr/>
        </p:nvSpPr>
        <p:spPr>
          <a:xfrm>
            <a:off x="4718304" y="3685032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La inteligencia artificial afirma cosas incorrectas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1"/>
          <p:cNvSpPr txBox="1"/>
          <p:nvPr/>
        </p:nvSpPr>
        <p:spPr>
          <a:xfrm>
            <a:off x="8046720" y="3685032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Casos de prueba y obligación de citar la fuente.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1"/>
          <p:cNvSpPr/>
          <p:nvPr/>
        </p:nvSpPr>
        <p:spPr>
          <a:xfrm>
            <a:off x="4206240" y="4498848"/>
            <a:ext cx="7342632" cy="804672"/>
          </a:xfrm>
          <a:prstGeom prst="roundRect">
            <a:avLst>
              <a:gd fmla="val 6818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1"/>
          <p:cNvSpPr/>
          <p:nvPr/>
        </p:nvSpPr>
        <p:spPr>
          <a:xfrm>
            <a:off x="4407408" y="4809744"/>
            <a:ext cx="182880" cy="182880"/>
          </a:xfrm>
          <a:prstGeom prst="ellipse">
            <a:avLst/>
          </a:prstGeom>
          <a:solidFill>
            <a:srgbClr val="B7791F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1"/>
          <p:cNvSpPr txBox="1"/>
          <p:nvPr/>
        </p:nvSpPr>
        <p:spPr>
          <a:xfrm>
            <a:off x="4718304" y="4581144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Privacidad y acceso a credenciales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1"/>
          <p:cNvSpPr txBox="1"/>
          <p:nvPr/>
        </p:nvSpPr>
        <p:spPr>
          <a:xfrm>
            <a:off x="8046720" y="4581144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Seguridad primero; ambientes de prueba.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1"/>
          <p:cNvSpPr/>
          <p:nvPr/>
        </p:nvSpPr>
        <p:spPr>
          <a:xfrm>
            <a:off x="4206240" y="5394960"/>
            <a:ext cx="7342632" cy="804672"/>
          </a:xfrm>
          <a:prstGeom prst="roundRect">
            <a:avLst>
              <a:gd fmla="val 6818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1"/>
          <p:cNvSpPr/>
          <p:nvPr/>
        </p:nvSpPr>
        <p:spPr>
          <a:xfrm>
            <a:off x="4407408" y="5705856"/>
            <a:ext cx="182880" cy="182880"/>
          </a:xfrm>
          <a:prstGeom prst="ellipse">
            <a:avLst/>
          </a:prstGeom>
          <a:solidFill>
            <a:srgbClr val="B7791F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1"/>
          <p:cNvSpPr txBox="1"/>
          <p:nvPr/>
        </p:nvSpPr>
        <p:spPr>
          <a:xfrm>
            <a:off x="4718304" y="5477256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El alcance se desborda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1"/>
          <p:cNvSpPr txBox="1"/>
          <p:nvPr/>
        </p:nvSpPr>
        <p:spPr>
          <a:xfrm>
            <a:off x="8046720" y="5477256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Extensiones condicionadas; revisión en cada hito.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2"/>
          <p:cNvSpPr txBox="1"/>
          <p:nvPr/>
        </p:nvSpPr>
        <p:spPr>
          <a:xfrm>
            <a:off x="640080" y="384048"/>
            <a:ext cx="10058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EQUIPO Y EVIDENCIAS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2"/>
          <p:cNvSpPr txBox="1"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Quién responde por qué, y qué se entrega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2"/>
          <p:cNvSpPr/>
          <p:nvPr/>
        </p:nvSpPr>
        <p:spPr>
          <a:xfrm>
            <a:off x="640080" y="1481328"/>
            <a:ext cx="3383280" cy="1691640"/>
          </a:xfrm>
          <a:prstGeom prst="roundRect">
            <a:avLst>
              <a:gd fmla="val 3243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2"/>
          <p:cNvSpPr/>
          <p:nvPr/>
        </p:nvSpPr>
        <p:spPr>
          <a:xfrm>
            <a:off x="877824" y="1691640"/>
            <a:ext cx="420624" cy="420624"/>
          </a:xfrm>
          <a:prstGeom prst="ellipse">
            <a:avLst/>
          </a:prstGeom>
          <a:solidFill>
            <a:srgbClr val="2F5FA8"/>
          </a:solidFill>
          <a:ln cap="flat" cmpd="sng" w="12700">
            <a:solidFill>
              <a:srgbClr val="2F5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2"/>
          <p:cNvSpPr txBox="1"/>
          <p:nvPr/>
        </p:nvSpPr>
        <p:spPr>
          <a:xfrm>
            <a:off x="877824" y="169164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2"/>
          <p:cNvSpPr txBox="1"/>
          <p:nvPr/>
        </p:nvSpPr>
        <p:spPr>
          <a:xfrm>
            <a:off x="1408176" y="1700784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mbria"/>
              <a:buNone/>
            </a:pPr>
            <a:r>
              <a:rPr b="1" lang="en-US" sz="135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Felipe Orellana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2"/>
          <p:cNvSpPr txBox="1"/>
          <p:nvPr/>
        </p:nvSpPr>
        <p:spPr>
          <a:xfrm>
            <a:off x="1408176" y="1938528"/>
            <a:ext cx="2468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FA8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F5FA8"/>
                </a:solidFill>
                <a:latin typeface="Calibri"/>
                <a:ea typeface="Calibri"/>
                <a:cs typeface="Calibri"/>
                <a:sym typeface="Calibri"/>
              </a:rPr>
              <a:t>Backend y agentes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2"/>
          <p:cNvSpPr txBox="1"/>
          <p:nvPr/>
        </p:nvSpPr>
        <p:spPr>
          <a:xfrm>
            <a:off x="877824" y="233172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Diseño de la solución, búsqueda en registros europeos y prensa, redacción del informe y avance en tiempo real.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4297680" y="1481328"/>
            <a:ext cx="3383280" cy="1691640"/>
          </a:xfrm>
          <a:prstGeom prst="roundRect">
            <a:avLst>
              <a:gd fmla="val 3243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2"/>
          <p:cNvSpPr/>
          <p:nvPr/>
        </p:nvSpPr>
        <p:spPr>
          <a:xfrm>
            <a:off x="4535424" y="1691640"/>
            <a:ext cx="420624" cy="420624"/>
          </a:xfrm>
          <a:prstGeom prst="ellipse">
            <a:avLst/>
          </a:prstGeom>
          <a:solidFill>
            <a:srgbClr val="1D7A6E"/>
          </a:solidFill>
          <a:ln cap="flat" cmpd="sng" w="12700">
            <a:solidFill>
              <a:srgbClr val="1D7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2"/>
          <p:cNvSpPr txBox="1"/>
          <p:nvPr/>
        </p:nvSpPr>
        <p:spPr>
          <a:xfrm>
            <a:off x="4535424" y="169164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2"/>
          <p:cNvSpPr txBox="1"/>
          <p:nvPr/>
        </p:nvSpPr>
        <p:spPr>
          <a:xfrm>
            <a:off x="5065776" y="1700784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mbria"/>
              <a:buNone/>
            </a:pPr>
            <a:r>
              <a:rPr b="1" lang="en-US" sz="135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Darío García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2"/>
          <p:cNvSpPr txBox="1"/>
          <p:nvPr/>
        </p:nvSpPr>
        <p:spPr>
          <a:xfrm>
            <a:off x="5065776" y="1938528"/>
            <a:ext cx="2468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7A6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D7A6E"/>
                </a:solidFill>
                <a:latin typeface="Calibri"/>
                <a:ea typeface="Calibri"/>
                <a:cs typeface="Calibri"/>
                <a:sym typeface="Calibri"/>
              </a:rPr>
              <a:t>Frontend e integraciones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2"/>
          <p:cNvSpPr txBox="1"/>
          <p:nvPr/>
        </p:nvSpPr>
        <p:spPr>
          <a:xfrm>
            <a:off x="4535424" y="233172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Dashboard, avance en tiempo real, envío por correo y automatización desde el calendario.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2"/>
          <p:cNvSpPr/>
          <p:nvPr/>
        </p:nvSpPr>
        <p:spPr>
          <a:xfrm>
            <a:off x="7955280" y="1481328"/>
            <a:ext cx="3383280" cy="1691640"/>
          </a:xfrm>
          <a:prstGeom prst="roundRect">
            <a:avLst>
              <a:gd fmla="val 3243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2"/>
          <p:cNvSpPr/>
          <p:nvPr/>
        </p:nvSpPr>
        <p:spPr>
          <a:xfrm>
            <a:off x="8193024" y="1691640"/>
            <a:ext cx="420624" cy="420624"/>
          </a:xfrm>
          <a:prstGeom prst="ellipse">
            <a:avLst/>
          </a:prstGeom>
          <a:solidFill>
            <a:srgbClr val="B7791F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2"/>
          <p:cNvSpPr txBox="1"/>
          <p:nvPr/>
        </p:nvSpPr>
        <p:spPr>
          <a:xfrm>
            <a:off x="8193024" y="169164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2"/>
          <p:cNvSpPr txBox="1"/>
          <p:nvPr/>
        </p:nvSpPr>
        <p:spPr>
          <a:xfrm>
            <a:off x="8723376" y="1700784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mbria"/>
              <a:buNone/>
            </a:pPr>
            <a:r>
              <a:rPr b="1" lang="en-US" sz="135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Felipe Docmac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2"/>
          <p:cNvSpPr txBox="1"/>
          <p:nvPr/>
        </p:nvSpPr>
        <p:spPr>
          <a:xfrm>
            <a:off x="8723376" y="1938528"/>
            <a:ext cx="2468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Seguridad y calidad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2"/>
          <p:cNvSpPr txBox="1"/>
          <p:nvPr/>
        </p:nvSpPr>
        <p:spPr>
          <a:xfrm>
            <a:off x="8193024" y="233172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Consolidación técnica, control de accesos, auditoría y plan de pruebas.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2"/>
          <p:cNvSpPr/>
          <p:nvPr/>
        </p:nvSpPr>
        <p:spPr>
          <a:xfrm>
            <a:off x="640080" y="3401568"/>
            <a:ext cx="5303520" cy="2514600"/>
          </a:xfrm>
          <a:prstGeom prst="roundRect">
            <a:avLst>
              <a:gd fmla="val 2182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2"/>
          <p:cNvSpPr txBox="1"/>
          <p:nvPr/>
        </p:nvSpPr>
        <p:spPr>
          <a:xfrm>
            <a:off x="914400" y="358444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CINCO EVIDENCIAS DE AVANCE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2"/>
          <p:cNvSpPr txBox="1"/>
          <p:nvPr/>
        </p:nvSpPr>
        <p:spPr>
          <a:xfrm>
            <a:off x="914400" y="3913632"/>
            <a:ext cx="4754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·  Diagnóstico y priorización de brechas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2"/>
          <p:cNvSpPr txBox="1"/>
          <p:nvPr/>
        </p:nvSpPr>
        <p:spPr>
          <a:xfrm>
            <a:off x="914400" y="4279392"/>
            <a:ext cx="4754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·  Informe de deuda técnica: inicio y entrega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2"/>
          <p:cNvSpPr txBox="1"/>
          <p:nvPr/>
        </p:nvSpPr>
        <p:spPr>
          <a:xfrm>
            <a:off x="914400" y="4645152"/>
            <a:ext cx="4754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·  Documento de diseño de la solución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2"/>
          <p:cNvSpPr txBox="1"/>
          <p:nvPr/>
        </p:nvSpPr>
        <p:spPr>
          <a:xfrm>
            <a:off x="914400" y="5010912"/>
            <a:ext cx="4754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·  Repositorio con los agentes operativos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2"/>
          <p:cNvSpPr txBox="1"/>
          <p:nvPr/>
        </p:nvSpPr>
        <p:spPr>
          <a:xfrm>
            <a:off x="914400" y="5376672"/>
            <a:ext cx="4754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·  Dashboard con avance en tiempo real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2"/>
          <p:cNvSpPr/>
          <p:nvPr/>
        </p:nvSpPr>
        <p:spPr>
          <a:xfrm>
            <a:off x="6245352" y="3401568"/>
            <a:ext cx="5303520" cy="2514600"/>
          </a:xfrm>
          <a:prstGeom prst="roundRect">
            <a:avLst>
              <a:gd fmla="val 2182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2"/>
          <p:cNvSpPr txBox="1"/>
          <p:nvPr/>
        </p:nvSpPr>
        <p:spPr>
          <a:xfrm>
            <a:off x="6519672" y="358444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CUATRO EVIDENCIAS FINALES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2"/>
          <p:cNvSpPr txBox="1"/>
          <p:nvPr/>
        </p:nvSpPr>
        <p:spPr>
          <a:xfrm>
            <a:off x="6519672" y="3913632"/>
            <a:ext cx="4754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·  Sistema en funcionamiento con envío por correo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2"/>
          <p:cNvSpPr txBox="1"/>
          <p:nvPr/>
        </p:nvSpPr>
        <p:spPr>
          <a:xfrm>
            <a:off x="6519672" y="4279392"/>
            <a:ext cx="4754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·  Informe de pruebas, seguridad y resultados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2"/>
          <p:cNvSpPr txBox="1"/>
          <p:nvPr/>
        </p:nvSpPr>
        <p:spPr>
          <a:xfrm>
            <a:off x="6519672" y="4645152"/>
            <a:ext cx="4754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·  Documentación técnica y manual de usuario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2"/>
          <p:cNvSpPr txBox="1"/>
          <p:nvPr/>
        </p:nvSpPr>
        <p:spPr>
          <a:xfrm>
            <a:off x="6519672" y="5010912"/>
            <a:ext cx="4754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·  Informe final y presentación de defensa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2"/>
          <p:cNvSpPr txBox="1"/>
          <p:nvPr/>
        </p:nvSpPr>
        <p:spPr>
          <a:xfrm>
            <a:off x="640080" y="6291072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Cada evidencia responde a uno o más objetivos específicos y tiene una actividad del plan que la produce.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3"/>
          <p:cNvSpPr/>
          <p:nvPr/>
        </p:nvSpPr>
        <p:spPr>
          <a:xfrm>
            <a:off x="-1463040" y="4023360"/>
            <a:ext cx="4572000" cy="4572000"/>
          </a:xfrm>
          <a:prstGeom prst="ellipse">
            <a:avLst/>
          </a:prstGeom>
          <a:solidFill>
            <a:srgbClr val="141B45"/>
          </a:solidFill>
          <a:ln cap="flat" cmpd="sng" w="12700">
            <a:solidFill>
              <a:srgbClr val="141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3"/>
          <p:cNvSpPr/>
          <p:nvPr/>
        </p:nvSpPr>
        <p:spPr>
          <a:xfrm>
            <a:off x="9966960" y="-1097280"/>
            <a:ext cx="3840480" cy="3840480"/>
          </a:xfrm>
          <a:prstGeom prst="ellipse">
            <a:avLst/>
          </a:prstGeom>
          <a:solidFill>
            <a:srgbClr val="141B45"/>
          </a:solidFill>
          <a:ln cap="flat" cmpd="sng" w="12700">
            <a:solidFill>
              <a:srgbClr val="141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3"/>
          <p:cNvSpPr txBox="1"/>
          <p:nvPr/>
        </p:nvSpPr>
        <p:spPr>
          <a:xfrm>
            <a:off x="640080" y="2286000"/>
            <a:ext cx="104241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29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lang="en-US" sz="3400">
                <a:solidFill>
                  <a:schemeClr val="lt1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Enlace a Github</a:t>
            </a:r>
            <a:endParaRPr sz="3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3"/>
          <p:cNvSpPr/>
          <p:nvPr/>
        </p:nvSpPr>
        <p:spPr>
          <a:xfrm>
            <a:off x="640080" y="3977640"/>
            <a:ext cx="1280160" cy="32004"/>
          </a:xfrm>
          <a:prstGeom prst="rect">
            <a:avLst/>
          </a:prstGeom>
          <a:solidFill>
            <a:srgbClr val="B7791F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3"/>
          <p:cNvSpPr txBox="1"/>
          <p:nvPr/>
        </p:nvSpPr>
        <p:spPr>
          <a:xfrm>
            <a:off x="640080" y="429768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200"/>
              <a:buFont typeface="Cambria"/>
              <a:buNone/>
            </a:pPr>
            <a:r>
              <a:rPr lang="en-US" sz="2200">
                <a:solidFill>
                  <a:srgbClr val="CADCFC"/>
                </a:solidFill>
                <a:latin typeface="Cambria"/>
                <a:ea typeface="Cambria"/>
                <a:cs typeface="Cambria"/>
                <a:sym typeface="Cambria"/>
              </a:rPr>
              <a:t>Gracias.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3"/>
          <p:cNvSpPr txBox="1"/>
          <p:nvPr/>
        </p:nvSpPr>
        <p:spPr>
          <a:xfrm>
            <a:off x="640080" y="5943600"/>
            <a:ext cx="10424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Continuidad Project Dossier  ·  Alloxentric  ·  Fase 1, septiembre de 2026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2026-09-01T22:03:39Z</dcterms:created>
  <dc:creator>PptxGenJS</dc:creator>
</cp:coreProperties>
</file>